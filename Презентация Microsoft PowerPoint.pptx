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9" r:id="rId5"/>
    <p:sldId id="270" r:id="rId6"/>
    <p:sldId id="271" r:id="rId7"/>
    <p:sldId id="259" r:id="rId8"/>
    <p:sldId id="260" r:id="rId9"/>
    <p:sldId id="261" r:id="rId10"/>
    <p:sldId id="262" r:id="rId11"/>
    <p:sldId id="263" r:id="rId12"/>
    <p:sldId id="264" r:id="rId13"/>
    <p:sldId id="265" r:id="rId14"/>
    <p:sldId id="272" r:id="rId15"/>
    <p:sldId id="273" r:id="rId16"/>
    <p:sldId id="274" r:id="rId17"/>
    <p:sldId id="275" r:id="rId18"/>
    <p:sldId id="276" r:id="rId19"/>
    <p:sldId id="277" r:id="rId20"/>
    <p:sldId id="268" r:id="rId21"/>
    <p:sldId id="266" r:id="rId22"/>
    <p:sldId id="267" r:id="rId2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ru-RU" smtClean="0"/>
              <a:t>Образец заголовка</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899059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358428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1201067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02F3607F-51DF-4189-ACB5-78961BD233FD}" type="datetimeFigureOut">
              <a:rPr lang="ru-RU" smtClean="0"/>
              <a:t>21.03.2021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325143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02F3607F-51DF-4189-ACB5-78961BD233FD}" type="datetimeFigureOut">
              <a:rPr lang="ru-RU" smtClean="0"/>
              <a:t>21.03.2021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205761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7" name="Date Placeholder 2"/>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3"/>
          <p:cNvSpPr>
            <a:spLocks noGrp="1"/>
          </p:cNvSpPr>
          <p:nvPr>
            <p:ph type="ftr" sz="quarter" idx="11"/>
          </p:nvPr>
        </p:nvSpPr>
        <p:spPr/>
        <p:txBody>
          <a:bodyPr/>
          <a:lstStyle/>
          <a:p>
            <a:endParaRPr lang="ru-RU"/>
          </a:p>
        </p:txBody>
      </p:sp>
      <p:sp>
        <p:nvSpPr>
          <p:cNvPr id="6" name="Slide Number Placeholder 4"/>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300092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2"/>
          <p:cNvSpPr>
            <a:spLocks noGrp="1"/>
          </p:cNvSpPr>
          <p:nvPr>
            <p:ph type="ftr" sz="quarter" idx="11"/>
          </p:nvPr>
        </p:nvSpPr>
        <p:spPr/>
        <p:txBody>
          <a:bodyPr/>
          <a:lstStyle/>
          <a:p>
            <a:endParaRPr lang="ru-RU"/>
          </a:p>
        </p:txBody>
      </p:sp>
      <p:sp>
        <p:nvSpPr>
          <p:cNvPr id="6" name="Slide Number Placeholder 3"/>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1326597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7" name="Date Placeholder 4"/>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5"/>
          <p:cNvSpPr>
            <a:spLocks noGrp="1"/>
          </p:cNvSpPr>
          <p:nvPr>
            <p:ph type="ftr" sz="quarter" idx="11"/>
          </p:nvPr>
        </p:nvSpPr>
        <p:spPr/>
        <p:txBody>
          <a:bodyPr/>
          <a:lstStyle/>
          <a:p>
            <a:endParaRPr lang="ru-RU"/>
          </a:p>
        </p:txBody>
      </p:sp>
      <p:sp>
        <p:nvSpPr>
          <p:cNvPr id="6" name="Slide Number Placeholder 6"/>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1415463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02F3607F-51DF-4189-ACB5-78961BD233FD}" type="datetimeFigureOut">
              <a:rPr lang="ru-RU" smtClean="0"/>
              <a:t>21.03.2021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4082961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02F3607F-51DF-4189-ACB5-78961BD233FD}" type="datetimeFigureOut">
              <a:rPr lang="ru-RU" smtClean="0"/>
              <a:t>21.03.2021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2349945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ru-RU" smtClean="0"/>
              <a:t>Образец заголовка</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365828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ru-RU" smtClean="0"/>
              <a:t>Образец заголовка</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ru-RU" smtClean="0"/>
              <a:t>Образец текста</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02878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2072973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406036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smtClean="0"/>
              <a:t>Образец заголовка</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4"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3506545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2741508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02F3607F-51DF-4189-ACB5-78961BD233FD}" type="datetimeFigureOut">
              <a:rPr lang="ru-RU" smtClean="0"/>
              <a:t>21.03.2021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C335B56-2E5F-4198-9A30-ACC1A937B783}" type="slidenum">
              <a:rPr lang="ru-RU" smtClean="0"/>
              <a:t>‹#›</a:t>
            </a:fld>
            <a:endParaRPr lang="ru-RU"/>
          </a:p>
        </p:txBody>
      </p:sp>
    </p:spTree>
    <p:extLst>
      <p:ext uri="{BB962C8B-B14F-4D97-AF65-F5344CB8AC3E}">
        <p14:creationId xmlns:p14="http://schemas.microsoft.com/office/powerpoint/2010/main" val="44627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2F3607F-51DF-4189-ACB5-78961BD233FD}" type="datetimeFigureOut">
              <a:rPr lang="ru-RU" smtClean="0"/>
              <a:t>21.03.2021</a:t>
            </a:fld>
            <a:endParaRPr lang="ru-R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ru-R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335B56-2E5F-4198-9A30-ACC1A937B783}" type="slidenum">
              <a:rPr lang="ru-RU" smtClean="0"/>
              <a:t>‹#›</a:t>
            </a:fld>
            <a:endParaRPr lang="ru-RU"/>
          </a:p>
        </p:txBody>
      </p:sp>
    </p:spTree>
    <p:extLst>
      <p:ext uri="{BB962C8B-B14F-4D97-AF65-F5344CB8AC3E}">
        <p14:creationId xmlns:p14="http://schemas.microsoft.com/office/powerpoint/2010/main" val="9423546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smtClean="0"/>
              <a:t>DIRECTED GRAPH</a:t>
            </a:r>
            <a:endParaRPr lang="ru-RU" dirty="0"/>
          </a:p>
        </p:txBody>
      </p:sp>
    </p:spTree>
    <p:extLst>
      <p:ext uri="{BB962C8B-B14F-4D97-AF65-F5344CB8AC3E}">
        <p14:creationId xmlns:p14="http://schemas.microsoft.com/office/powerpoint/2010/main" val="59762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18354" y="652388"/>
            <a:ext cx="3516456" cy="1400530"/>
          </a:xfrm>
        </p:spPr>
        <p:txBody>
          <a:bodyPr/>
          <a:lstStyle/>
          <a:p>
            <a:r>
              <a:rPr lang="en-US" b="1" dirty="0"/>
              <a:t>Digraphs.</a:t>
            </a:r>
            <a:br>
              <a:rPr lang="en-US" b="1" dirty="0"/>
            </a:br>
            <a:r>
              <a:rPr lang="en-US" dirty="0"/>
              <a:t> </a:t>
            </a:r>
            <a:endParaRPr lang="ru-RU" dirty="0"/>
          </a:p>
        </p:txBody>
      </p:sp>
      <p:sp>
        <p:nvSpPr>
          <p:cNvPr id="3" name="Объект 2"/>
          <p:cNvSpPr>
            <a:spLocks noGrp="1"/>
          </p:cNvSpPr>
          <p:nvPr>
            <p:ph idx="1"/>
          </p:nvPr>
        </p:nvSpPr>
        <p:spPr>
          <a:xfrm>
            <a:off x="1103311" y="1399350"/>
            <a:ext cx="9050623" cy="5083337"/>
          </a:xfrm>
        </p:spPr>
        <p:txBody>
          <a:bodyPr/>
          <a:lstStyle/>
          <a:p>
            <a:r>
              <a:rPr lang="en-US" dirty="0"/>
              <a:t>A </a:t>
            </a:r>
            <a:r>
              <a:rPr lang="en-US" i="1" dirty="0"/>
              <a:t>directed graph</a:t>
            </a:r>
            <a:r>
              <a:rPr lang="en-US" dirty="0"/>
              <a:t> (or </a:t>
            </a:r>
            <a:r>
              <a:rPr lang="en-US" i="1" dirty="0"/>
              <a:t>digraph</a:t>
            </a:r>
            <a:r>
              <a:rPr lang="en-US" dirty="0"/>
              <a:t>) is a set of </a:t>
            </a:r>
            <a:r>
              <a:rPr lang="en-US" i="1" dirty="0"/>
              <a:t>vertices</a:t>
            </a:r>
            <a:r>
              <a:rPr lang="en-US" dirty="0"/>
              <a:t> and a collection of </a:t>
            </a:r>
            <a:r>
              <a:rPr lang="en-US" i="1" dirty="0"/>
              <a:t>directed edges</a:t>
            </a:r>
            <a:r>
              <a:rPr lang="en-US" dirty="0"/>
              <a:t> that each connects an ordered pair of vertices. We say that a directed edge </a:t>
            </a:r>
            <a:r>
              <a:rPr lang="en-US" i="1" dirty="0"/>
              <a:t>points from</a:t>
            </a:r>
            <a:r>
              <a:rPr lang="en-US" dirty="0"/>
              <a:t> the first vertex in the pair and </a:t>
            </a:r>
            <a:r>
              <a:rPr lang="en-US" i="1" dirty="0"/>
              <a:t>points to</a:t>
            </a:r>
            <a:r>
              <a:rPr lang="en-US" dirty="0"/>
              <a:t> the second vertex in the pair. We use the names 0 through V-1 for the vertices in a V-vertex graph</a:t>
            </a:r>
            <a:r>
              <a:rPr lang="en-US" dirty="0" smtClean="0"/>
              <a:t>.</a:t>
            </a:r>
          </a:p>
          <a:p>
            <a:endParaRPr lang="en-US" dirty="0"/>
          </a:p>
          <a:p>
            <a:endParaRPr lang="en-US" dirty="0" smtClean="0"/>
          </a:p>
          <a:p>
            <a:endParaRPr lang="en-US" dirty="0"/>
          </a:p>
          <a:p>
            <a:endParaRPr lang="en-US" dirty="0" smtClean="0"/>
          </a:p>
          <a:p>
            <a:endParaRPr lang="en-US" dirty="0"/>
          </a:p>
          <a:p>
            <a:r>
              <a:rPr lang="en-US" dirty="0"/>
              <a:t>In the above Graph, the set of vertices V = {0,1,2,3,4} and the set of edges E = {</a:t>
            </a:r>
            <a:r>
              <a:rPr lang="en-US" dirty="0" smtClean="0"/>
              <a:t>0-1</a:t>
            </a:r>
            <a:r>
              <a:rPr lang="en-US" dirty="0"/>
              <a:t>, </a:t>
            </a:r>
            <a:r>
              <a:rPr lang="en-US" dirty="0" smtClean="0"/>
              <a:t>1-2</a:t>
            </a:r>
            <a:r>
              <a:rPr lang="en-US" dirty="0"/>
              <a:t>, </a:t>
            </a:r>
            <a:r>
              <a:rPr lang="en-US" dirty="0" smtClean="0"/>
              <a:t>2-3</a:t>
            </a:r>
            <a:r>
              <a:rPr lang="en-US" dirty="0"/>
              <a:t>, </a:t>
            </a:r>
            <a:r>
              <a:rPr lang="en-US" dirty="0" smtClean="0"/>
              <a:t>3-4</a:t>
            </a:r>
            <a:r>
              <a:rPr lang="en-US" dirty="0"/>
              <a:t>, </a:t>
            </a:r>
            <a:r>
              <a:rPr lang="en-US" dirty="0" smtClean="0"/>
              <a:t>0-4</a:t>
            </a:r>
            <a:r>
              <a:rPr lang="en-US" dirty="0"/>
              <a:t>, </a:t>
            </a:r>
            <a:r>
              <a:rPr lang="en-US" dirty="0" smtClean="0"/>
              <a:t>1-4</a:t>
            </a:r>
            <a:r>
              <a:rPr lang="en-US" dirty="0"/>
              <a:t>, </a:t>
            </a:r>
            <a:r>
              <a:rPr lang="en-US" dirty="0" smtClean="0"/>
              <a:t>1-3</a:t>
            </a:r>
            <a:r>
              <a:rPr lang="en-US" dirty="0"/>
              <a:t>}.</a:t>
            </a:r>
            <a:endParaRPr lang="en-US" dirty="0" smtClean="0"/>
          </a:p>
        </p:txBody>
      </p:sp>
      <p:pic>
        <p:nvPicPr>
          <p:cNvPr id="2050" name="Picture 2" descr="https://media.geeksforgeeks.org/wp-content/cdn-uploads/undirectedgrap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193" y="2991063"/>
            <a:ext cx="4676775" cy="201930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Прямая со стрелкой 4"/>
          <p:cNvCxnSpPr/>
          <p:nvPr/>
        </p:nvCxnSpPr>
        <p:spPr>
          <a:xfrm>
            <a:off x="5235494" y="3178628"/>
            <a:ext cx="682171"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Прямая со стрелкой 6"/>
          <p:cNvCxnSpPr/>
          <p:nvPr/>
        </p:nvCxnSpPr>
        <p:spPr>
          <a:xfrm>
            <a:off x="6255657" y="3264125"/>
            <a:ext cx="781491" cy="402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Прямая со стрелкой 8"/>
          <p:cNvCxnSpPr/>
          <p:nvPr/>
        </p:nvCxnSpPr>
        <p:spPr>
          <a:xfrm flipH="1">
            <a:off x="6392530" y="3941018"/>
            <a:ext cx="644618" cy="347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p:nvPr/>
        </p:nvCxnSpPr>
        <p:spPr>
          <a:xfrm>
            <a:off x="4934857" y="3465132"/>
            <a:ext cx="14514" cy="53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flipH="1">
            <a:off x="5151502" y="4309566"/>
            <a:ext cx="6821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p:cNvCxnSpPr/>
          <p:nvPr/>
        </p:nvCxnSpPr>
        <p:spPr>
          <a:xfrm flipH="1">
            <a:off x="5151503" y="3326066"/>
            <a:ext cx="766162" cy="788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p:nvPr/>
        </p:nvCxnSpPr>
        <p:spPr>
          <a:xfrm>
            <a:off x="6099066" y="3465132"/>
            <a:ext cx="14514" cy="649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492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graph AP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360" y="1977272"/>
            <a:ext cx="8915447" cy="3758845"/>
          </a:xfrm>
          <a:prstGeom prst="rect">
            <a:avLst/>
          </a:prstGeom>
          <a:noFill/>
          <a:extLst>
            <a:ext uri="{909E8E84-426E-40DD-AFC4-6F175D3DCCD1}">
              <a14:hiddenFill xmlns:a14="http://schemas.microsoft.com/office/drawing/2010/main">
                <a:solidFill>
                  <a:srgbClr val="FFFFFF"/>
                </a:solidFill>
              </a14:hiddenFill>
            </a:ext>
          </a:extLst>
        </p:spPr>
      </p:pic>
      <p:sp>
        <p:nvSpPr>
          <p:cNvPr id="5" name="Заголовок 4"/>
          <p:cNvSpPr>
            <a:spLocks noGrp="1"/>
          </p:cNvSpPr>
          <p:nvPr>
            <p:ph type="title"/>
          </p:nvPr>
        </p:nvSpPr>
        <p:spPr>
          <a:xfrm>
            <a:off x="1507723" y="490889"/>
            <a:ext cx="9404723" cy="1400530"/>
          </a:xfrm>
        </p:spPr>
        <p:txBody>
          <a:bodyPr/>
          <a:lstStyle/>
          <a:p>
            <a:r>
              <a:rPr lang="en-US" sz="3200" dirty="0"/>
              <a:t> We implement the following digraph API.</a:t>
            </a:r>
            <a:endParaRPr lang="ru-RU" sz="3200" dirty="0"/>
          </a:p>
        </p:txBody>
      </p:sp>
    </p:spTree>
    <p:extLst>
      <p:ext uri="{BB962C8B-B14F-4D97-AF65-F5344CB8AC3E}">
        <p14:creationId xmlns:p14="http://schemas.microsoft.com/office/powerpoint/2010/main" val="306028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9637" y="931690"/>
            <a:ext cx="9513889" cy="824539"/>
          </a:xfrm>
        </p:spPr>
        <p:txBody>
          <a:bodyPr/>
          <a:lstStyle/>
          <a:p>
            <a:r>
              <a:rPr lang="en-US" sz="3200" dirty="0" smtClean="0"/>
              <a:t>Implementation </a:t>
            </a:r>
            <a:r>
              <a:rPr lang="en-US" sz="3200" dirty="0"/>
              <a:t>of directed graph </a:t>
            </a:r>
            <a:r>
              <a:rPr lang="en-US" sz="3200" dirty="0" smtClean="0"/>
              <a:t>using java</a:t>
            </a:r>
            <a:endParaRPr lang="ru-RU" sz="3200" dirty="0"/>
          </a:p>
        </p:txBody>
      </p:sp>
      <p:sp>
        <p:nvSpPr>
          <p:cNvPr id="3" name="Объект 2"/>
          <p:cNvSpPr>
            <a:spLocks noGrp="1"/>
          </p:cNvSpPr>
          <p:nvPr>
            <p:ph idx="1"/>
          </p:nvPr>
        </p:nvSpPr>
        <p:spPr/>
        <p:txBody>
          <a:bodyPr/>
          <a:lstStyle/>
          <a:p>
            <a:r>
              <a:rPr lang="en-US" dirty="0"/>
              <a:t>Java does not provide a full-fledged implementation of the graph data structure. However, we can represent the graph programmatically using Collections in Java. We can also implement a graph using dynamic arrays like vectors.</a:t>
            </a:r>
          </a:p>
          <a:p>
            <a:endParaRPr lang="en-US" dirty="0"/>
          </a:p>
          <a:p>
            <a:r>
              <a:rPr lang="en-US" dirty="0"/>
              <a:t>A most common way to create a graph is by using one of the representations of graphs like adjacency matrix or adjacency list. We will discuss these representations next and then implement the graph in Java using the adjacency </a:t>
            </a:r>
            <a:r>
              <a:rPr lang="en-US" dirty="0" smtClean="0"/>
              <a:t>list for </a:t>
            </a:r>
            <a:r>
              <a:rPr lang="en-US" dirty="0"/>
              <a:t>which we will use </a:t>
            </a:r>
            <a:r>
              <a:rPr lang="en-US" dirty="0" smtClean="0"/>
              <a:t>Array List.</a:t>
            </a:r>
            <a:endParaRPr lang="ru-RU" dirty="0"/>
          </a:p>
        </p:txBody>
      </p:sp>
    </p:spTree>
    <p:extLst>
      <p:ext uri="{BB962C8B-B14F-4D97-AF65-F5344CB8AC3E}">
        <p14:creationId xmlns:p14="http://schemas.microsoft.com/office/powerpoint/2010/main" val="3704193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Adjacency Matrix</a:t>
            </a:r>
            <a:endParaRPr lang="ru-RU" dirty="0"/>
          </a:p>
        </p:txBody>
      </p:sp>
      <p:sp>
        <p:nvSpPr>
          <p:cNvPr id="3" name="Объект 2"/>
          <p:cNvSpPr>
            <a:spLocks noGrp="1"/>
          </p:cNvSpPr>
          <p:nvPr>
            <p:ph idx="1"/>
          </p:nvPr>
        </p:nvSpPr>
        <p:spPr/>
        <p:txBody>
          <a:bodyPr/>
          <a:lstStyle/>
          <a:p>
            <a:r>
              <a:rPr lang="en-US" dirty="0" smtClean="0"/>
              <a:t>Adjacency Matrix is a linear representation of graphs. This matrix stores the mapping of vertices and edges of the graph. In the adjacency matrix, vertices of the graph represent rows and columns. This means if the graph has N vertices, then the adjacency matrix will have size NxN.</a:t>
            </a:r>
          </a:p>
          <a:p>
            <a:endParaRPr lang="en-US" dirty="0" smtClean="0"/>
          </a:p>
          <a:p>
            <a:r>
              <a:rPr lang="en-US" dirty="0" smtClean="0"/>
              <a:t>If V is a set of vertices of the graph then intersection </a:t>
            </a:r>
            <a:r>
              <a:rPr lang="en-US" dirty="0" err="1" smtClean="0"/>
              <a:t>Mij</a:t>
            </a:r>
            <a:r>
              <a:rPr lang="en-US" dirty="0" smtClean="0"/>
              <a:t> in the adjacency list = 1 means there is an edge existing between vertices </a:t>
            </a:r>
            <a:r>
              <a:rPr lang="en-US" dirty="0" err="1" smtClean="0"/>
              <a:t>i</a:t>
            </a:r>
            <a:r>
              <a:rPr lang="en-US" dirty="0" smtClean="0"/>
              <a:t> and j.</a:t>
            </a:r>
          </a:p>
          <a:p>
            <a:endParaRPr lang="ru-RU" dirty="0"/>
          </a:p>
        </p:txBody>
      </p:sp>
    </p:spTree>
    <p:extLst>
      <p:ext uri="{BB962C8B-B14F-4D97-AF65-F5344CB8AC3E}">
        <p14:creationId xmlns:p14="http://schemas.microsoft.com/office/powerpoint/2010/main" val="359931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Adjacency List</a:t>
            </a:r>
            <a:endParaRPr lang="ru-RU" dirty="0"/>
          </a:p>
        </p:txBody>
      </p:sp>
      <p:sp>
        <p:nvSpPr>
          <p:cNvPr id="3" name="Объект 2"/>
          <p:cNvSpPr>
            <a:spLocks noGrp="1"/>
          </p:cNvSpPr>
          <p:nvPr>
            <p:ph idx="1"/>
          </p:nvPr>
        </p:nvSpPr>
        <p:spPr/>
        <p:txBody>
          <a:bodyPr/>
          <a:lstStyle/>
          <a:p>
            <a:r>
              <a:rPr lang="en-US" dirty="0"/>
              <a:t>An adjacency list is nothing but a linked list and each node in the list represents a vertex.</a:t>
            </a:r>
          </a:p>
          <a:p>
            <a:endParaRPr lang="en-US" dirty="0"/>
          </a:p>
          <a:p>
            <a:r>
              <a:rPr lang="en-US" dirty="0"/>
              <a:t>The presence of an edge between two vertices is denoted by a pointer from the first vertex to the second. This adjacency list is maintained for each vertex in the graph.</a:t>
            </a:r>
          </a:p>
          <a:p>
            <a:endParaRPr lang="en-US" dirty="0"/>
          </a:p>
          <a:p>
            <a:r>
              <a:rPr lang="en-US" dirty="0"/>
              <a:t>When we have traversed all the adjacent nodes for a particular node, we store NULL in the next pointer field of the last node of the adjacency list.</a:t>
            </a:r>
            <a:endParaRPr lang="ru-RU" dirty="0"/>
          </a:p>
        </p:txBody>
      </p:sp>
    </p:spTree>
    <p:extLst>
      <p:ext uri="{BB962C8B-B14F-4D97-AF65-F5344CB8AC3E}">
        <p14:creationId xmlns:p14="http://schemas.microsoft.com/office/powerpoint/2010/main" val="3763257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5" name="Овал 4"/>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6" name="Овал 5"/>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7" name="Овал 6"/>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8" name="Овал 7"/>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11" name="Прямая со стрелкой 10"/>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Таблица 26"/>
          <p:cNvGraphicFramePr>
            <a:graphicFrameLocks noGrp="1"/>
          </p:cNvGraphicFramePr>
          <p:nvPr>
            <p:extLst>
              <p:ext uri="{D42A27DB-BD31-4B8C-83A1-F6EECF244321}">
                <p14:modId xmlns:p14="http://schemas.microsoft.com/office/powerpoint/2010/main" val="1259929409"/>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3</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28" name="Заголовок 27"/>
          <p:cNvSpPr>
            <a:spLocks noGrp="1"/>
          </p:cNvSpPr>
          <p:nvPr>
            <p:ph type="title"/>
          </p:nvPr>
        </p:nvSpPr>
        <p:spPr>
          <a:xfrm>
            <a:off x="6313973" y="230166"/>
            <a:ext cx="5181341" cy="964214"/>
          </a:xfrm>
        </p:spPr>
        <p:txBody>
          <a:bodyPr/>
          <a:lstStyle/>
          <a:p>
            <a:r>
              <a:rPr lang="en-US" sz="2800" i="1" dirty="0" smtClean="0"/>
              <a:t>Adjacency-matrix</a:t>
            </a:r>
            <a:endParaRPr lang="ru-RU" sz="2800" dirty="0"/>
          </a:p>
        </p:txBody>
      </p:sp>
      <p:sp>
        <p:nvSpPr>
          <p:cNvPr id="33" name="TextBox 32"/>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34" name="Таблица 33"/>
          <p:cNvGraphicFramePr>
            <a:graphicFrameLocks noGrp="1"/>
          </p:cNvGraphicFramePr>
          <p:nvPr>
            <p:extLst>
              <p:ext uri="{D42A27DB-BD31-4B8C-83A1-F6EECF244321}">
                <p14:modId xmlns:p14="http://schemas.microsoft.com/office/powerpoint/2010/main" val="191022906"/>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spTree>
    <p:extLst>
      <p:ext uri="{BB962C8B-B14F-4D97-AF65-F5344CB8AC3E}">
        <p14:creationId xmlns:p14="http://schemas.microsoft.com/office/powerpoint/2010/main" val="1623678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5031040" y="1586829"/>
            <a:ext cx="3556000" cy="369332"/>
          </a:xfrm>
          <a:prstGeom prst="rect">
            <a:avLst/>
          </a:prstGeom>
          <a:noFill/>
        </p:spPr>
        <p:txBody>
          <a:bodyPr wrap="square" rtlCol="0">
            <a:spAutoFit/>
          </a:bodyPr>
          <a:lstStyle/>
          <a:p>
            <a:r>
              <a:rPr lang="en-US" dirty="0" smtClean="0"/>
              <a:t>1-&gt;4</a:t>
            </a:r>
            <a:endParaRPr lang="ru-RU" dirty="0"/>
          </a:p>
        </p:txBody>
      </p:sp>
      <p:sp>
        <p:nvSpPr>
          <p:cNvPr id="65" name="Овал 64"/>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66" name="Овал 65"/>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67" name="Овал 66"/>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68" name="Овал 67"/>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69" name="Овал 68"/>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70" name="Прямая со стрелкой 69"/>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Прямая со стрелкой 70"/>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Прямая со стрелкой 71"/>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76" name="Таблица 75"/>
          <p:cNvGraphicFramePr>
            <a:graphicFrameLocks noGrp="1"/>
          </p:cNvGraphicFramePr>
          <p:nvPr>
            <p:extLst>
              <p:ext uri="{D42A27DB-BD31-4B8C-83A1-F6EECF244321}">
                <p14:modId xmlns:p14="http://schemas.microsoft.com/office/powerpoint/2010/main" val="556919593"/>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3</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77"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78" name="TextBox 77"/>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79" name="Таблица 78"/>
          <p:cNvGraphicFramePr>
            <a:graphicFrameLocks noGrp="1"/>
          </p:cNvGraphicFramePr>
          <p:nvPr>
            <p:extLst>
              <p:ext uri="{D42A27DB-BD31-4B8C-83A1-F6EECF244321}">
                <p14:modId xmlns:p14="http://schemas.microsoft.com/office/powerpoint/2010/main" val="3135854371"/>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81" name="Прямая со стрелкой 80"/>
          <p:cNvCxnSpPr/>
          <p:nvPr/>
        </p:nvCxnSpPr>
        <p:spPr>
          <a:xfrm>
            <a:off x="6809040" y="3947886"/>
            <a:ext cx="346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82" name="Таблица 81"/>
          <p:cNvGraphicFramePr>
            <a:graphicFrameLocks noGrp="1"/>
          </p:cNvGraphicFramePr>
          <p:nvPr>
            <p:extLst>
              <p:ext uri="{D42A27DB-BD31-4B8C-83A1-F6EECF244321}">
                <p14:modId xmlns:p14="http://schemas.microsoft.com/office/powerpoint/2010/main" val="3600003513"/>
              </p:ext>
            </p:extLst>
          </p:nvPr>
        </p:nvGraphicFramePr>
        <p:xfrm>
          <a:off x="7402286" y="3725980"/>
          <a:ext cx="493486" cy="402141"/>
        </p:xfrm>
        <a:graphic>
          <a:graphicData uri="http://schemas.openxmlformats.org/drawingml/2006/table">
            <a:tbl>
              <a:tblPr firstRow="1" bandRow="1">
                <a:tableStyleId>{5C22544A-7EE6-4342-B048-85BDC9FD1C3A}</a:tableStyleId>
              </a:tblPr>
              <a:tblGrid>
                <a:gridCol w="493486"/>
              </a:tblGrid>
              <a:tr h="402141">
                <a:tc>
                  <a:txBody>
                    <a:bodyPr/>
                    <a:lstStyle/>
                    <a:p>
                      <a:r>
                        <a:rPr lang="en-US" dirty="0" smtClean="0"/>
                        <a:t>4</a:t>
                      </a:r>
                      <a:endParaRPr lang="ru-RU" dirty="0"/>
                    </a:p>
                  </a:txBody>
                  <a:tcPr/>
                </a:tc>
              </a:tr>
            </a:tbl>
          </a:graphicData>
        </a:graphic>
      </p:graphicFrame>
    </p:spTree>
    <p:extLst>
      <p:ext uri="{BB962C8B-B14F-4D97-AF65-F5344CB8AC3E}">
        <p14:creationId xmlns:p14="http://schemas.microsoft.com/office/powerpoint/2010/main" val="160102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p:cNvSpPr txBox="1"/>
          <p:nvPr/>
        </p:nvSpPr>
        <p:spPr>
          <a:xfrm>
            <a:off x="5031040" y="1586829"/>
            <a:ext cx="3556000" cy="369332"/>
          </a:xfrm>
          <a:prstGeom prst="rect">
            <a:avLst/>
          </a:prstGeom>
          <a:noFill/>
        </p:spPr>
        <p:txBody>
          <a:bodyPr wrap="square" rtlCol="0">
            <a:spAutoFit/>
          </a:bodyPr>
          <a:lstStyle/>
          <a:p>
            <a:r>
              <a:rPr lang="en-US" dirty="0"/>
              <a:t>4</a:t>
            </a:r>
            <a:r>
              <a:rPr lang="en-US" dirty="0" smtClean="0"/>
              <a:t>-&gt;</a:t>
            </a:r>
            <a:r>
              <a:rPr lang="en-US" dirty="0"/>
              <a:t>2</a:t>
            </a:r>
            <a:endParaRPr lang="ru-RU" dirty="0"/>
          </a:p>
        </p:txBody>
      </p:sp>
      <p:sp>
        <p:nvSpPr>
          <p:cNvPr id="52" name="Овал 51"/>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53" name="Овал 52"/>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54" name="Овал 53"/>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55" name="Овал 54"/>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56" name="Овал 55"/>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57" name="Прямая со стрелкой 56"/>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Прямая со стрелкой 57"/>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Прямая со стрелкой 58"/>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Прямая со стрелкой 59"/>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Прямая со стрелкой 61"/>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3" name="Таблица 62"/>
          <p:cNvGraphicFramePr>
            <a:graphicFrameLocks noGrp="1"/>
          </p:cNvGraphicFramePr>
          <p:nvPr>
            <p:extLst>
              <p:ext uri="{D42A27DB-BD31-4B8C-83A1-F6EECF244321}">
                <p14:modId xmlns:p14="http://schemas.microsoft.com/office/powerpoint/2010/main" val="3637250398"/>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3</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64"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65" name="TextBox 64"/>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66" name="Таблица 65"/>
          <p:cNvGraphicFramePr>
            <a:graphicFrameLocks noGrp="1"/>
          </p:cNvGraphicFramePr>
          <p:nvPr>
            <p:extLst>
              <p:ext uri="{D42A27DB-BD31-4B8C-83A1-F6EECF244321}">
                <p14:modId xmlns:p14="http://schemas.microsoft.com/office/powerpoint/2010/main" val="2792658457"/>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67" name="Прямая со стрелкой 66"/>
          <p:cNvCxnSpPr/>
          <p:nvPr/>
        </p:nvCxnSpPr>
        <p:spPr>
          <a:xfrm>
            <a:off x="6809040" y="3947886"/>
            <a:ext cx="346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8" name="Таблица 67"/>
          <p:cNvGraphicFramePr>
            <a:graphicFrameLocks noGrp="1"/>
          </p:cNvGraphicFramePr>
          <p:nvPr>
            <p:extLst>
              <p:ext uri="{D42A27DB-BD31-4B8C-83A1-F6EECF244321}">
                <p14:modId xmlns:p14="http://schemas.microsoft.com/office/powerpoint/2010/main" val="3455002710"/>
              </p:ext>
            </p:extLst>
          </p:nvPr>
        </p:nvGraphicFramePr>
        <p:xfrm>
          <a:off x="7402286" y="3725980"/>
          <a:ext cx="493486" cy="402141"/>
        </p:xfrm>
        <a:graphic>
          <a:graphicData uri="http://schemas.openxmlformats.org/drawingml/2006/table">
            <a:tbl>
              <a:tblPr firstRow="1" bandRow="1">
                <a:tableStyleId>{5C22544A-7EE6-4342-B048-85BDC9FD1C3A}</a:tableStyleId>
              </a:tblPr>
              <a:tblGrid>
                <a:gridCol w="493486"/>
              </a:tblGrid>
              <a:tr h="402141">
                <a:tc>
                  <a:txBody>
                    <a:bodyPr/>
                    <a:lstStyle/>
                    <a:p>
                      <a:r>
                        <a:rPr lang="en-US" dirty="0" smtClean="0"/>
                        <a:t>4</a:t>
                      </a:r>
                      <a:endParaRPr lang="ru-RU" dirty="0"/>
                    </a:p>
                  </a:txBody>
                  <a:tcPr/>
                </a:tc>
              </a:tr>
            </a:tbl>
          </a:graphicData>
        </a:graphic>
      </p:graphicFrame>
      <p:cxnSp>
        <p:nvCxnSpPr>
          <p:cNvPr id="70" name="Прямая со стрелкой 69"/>
          <p:cNvCxnSpPr/>
          <p:nvPr/>
        </p:nvCxnSpPr>
        <p:spPr>
          <a:xfrm>
            <a:off x="6809040" y="5109029"/>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Прямоугольник 70"/>
          <p:cNvSpPr/>
          <p:nvPr/>
        </p:nvSpPr>
        <p:spPr>
          <a:xfrm>
            <a:off x="7373256" y="4927600"/>
            <a:ext cx="464457" cy="362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spTree>
    <p:extLst>
      <p:ext uri="{BB962C8B-B14F-4D97-AF65-F5344CB8AC3E}">
        <p14:creationId xmlns:p14="http://schemas.microsoft.com/office/powerpoint/2010/main" val="3440014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nvSpPr>
        <p:spPr>
          <a:xfrm>
            <a:off x="5031040" y="1586829"/>
            <a:ext cx="3556000" cy="369332"/>
          </a:xfrm>
          <a:prstGeom prst="rect">
            <a:avLst/>
          </a:prstGeom>
          <a:noFill/>
        </p:spPr>
        <p:txBody>
          <a:bodyPr wrap="square" rtlCol="0">
            <a:spAutoFit/>
          </a:bodyPr>
          <a:lstStyle/>
          <a:p>
            <a:r>
              <a:rPr lang="en-US" dirty="0" smtClean="0"/>
              <a:t>2-&gt;5</a:t>
            </a:r>
            <a:endParaRPr lang="ru-RU" dirty="0"/>
          </a:p>
        </p:txBody>
      </p:sp>
      <p:sp>
        <p:nvSpPr>
          <p:cNvPr id="40" name="Овал 39"/>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41" name="Овал 40"/>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42" name="Овал 41"/>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43" name="Овал 42"/>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44" name="Овал 43"/>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45" name="Прямая со стрелкой 44"/>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1" name="Таблица 50"/>
          <p:cNvGraphicFramePr>
            <a:graphicFrameLocks noGrp="1"/>
          </p:cNvGraphicFramePr>
          <p:nvPr>
            <p:extLst>
              <p:ext uri="{D42A27DB-BD31-4B8C-83A1-F6EECF244321}">
                <p14:modId xmlns:p14="http://schemas.microsoft.com/office/powerpoint/2010/main" val="1631214570"/>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3</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52"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53" name="TextBox 52"/>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54" name="Таблица 53"/>
          <p:cNvGraphicFramePr>
            <a:graphicFrameLocks noGrp="1"/>
          </p:cNvGraphicFramePr>
          <p:nvPr>
            <p:extLst>
              <p:ext uri="{D42A27DB-BD31-4B8C-83A1-F6EECF244321}">
                <p14:modId xmlns:p14="http://schemas.microsoft.com/office/powerpoint/2010/main" val="862445188"/>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55" name="Прямая со стрелкой 54"/>
          <p:cNvCxnSpPr/>
          <p:nvPr/>
        </p:nvCxnSpPr>
        <p:spPr>
          <a:xfrm>
            <a:off x="6809040" y="3947886"/>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6" name="Таблица 55"/>
          <p:cNvGraphicFramePr>
            <a:graphicFrameLocks noGrp="1"/>
          </p:cNvGraphicFramePr>
          <p:nvPr>
            <p:extLst>
              <p:ext uri="{D42A27DB-BD31-4B8C-83A1-F6EECF244321}">
                <p14:modId xmlns:p14="http://schemas.microsoft.com/office/powerpoint/2010/main" val="1016346574"/>
              </p:ext>
            </p:extLst>
          </p:nvPr>
        </p:nvGraphicFramePr>
        <p:xfrm>
          <a:off x="7402286" y="3725980"/>
          <a:ext cx="493486" cy="850210"/>
        </p:xfrm>
        <a:graphic>
          <a:graphicData uri="http://schemas.openxmlformats.org/drawingml/2006/table">
            <a:tbl>
              <a:tblPr firstRow="1" bandRow="1">
                <a:tableStyleId>{5C22544A-7EE6-4342-B048-85BDC9FD1C3A}</a:tableStyleId>
              </a:tblPr>
              <a:tblGrid>
                <a:gridCol w="493486"/>
              </a:tblGrid>
              <a:tr h="425105">
                <a:tc>
                  <a:txBody>
                    <a:bodyPr/>
                    <a:lstStyle/>
                    <a:p>
                      <a:r>
                        <a:rPr lang="en-US" dirty="0" smtClean="0"/>
                        <a:t>4</a:t>
                      </a:r>
                      <a:endParaRPr lang="ru-RU" dirty="0"/>
                    </a:p>
                  </a:txBody>
                  <a:tcPr/>
                </a:tc>
              </a:tr>
              <a:tr h="425105">
                <a:tc>
                  <a:txBody>
                    <a:bodyPr/>
                    <a:lstStyle/>
                    <a:p>
                      <a:r>
                        <a:rPr lang="en-US" dirty="0" smtClean="0"/>
                        <a:t>5</a:t>
                      </a:r>
                      <a:endParaRPr lang="ru-RU" dirty="0"/>
                    </a:p>
                  </a:txBody>
                  <a:tcPr/>
                </a:tc>
              </a:tr>
            </a:tbl>
          </a:graphicData>
        </a:graphic>
      </p:graphicFrame>
      <p:cxnSp>
        <p:nvCxnSpPr>
          <p:cNvPr id="57" name="Прямая со стрелкой 56"/>
          <p:cNvCxnSpPr/>
          <p:nvPr/>
        </p:nvCxnSpPr>
        <p:spPr>
          <a:xfrm>
            <a:off x="6809040" y="5109029"/>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Прямоугольник 57"/>
          <p:cNvSpPr/>
          <p:nvPr/>
        </p:nvSpPr>
        <p:spPr>
          <a:xfrm>
            <a:off x="7373256" y="4927600"/>
            <a:ext cx="464457" cy="362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60" name="Прямая со стрелкой 59"/>
          <p:cNvCxnSpPr/>
          <p:nvPr/>
        </p:nvCxnSpPr>
        <p:spPr>
          <a:xfrm>
            <a:off x="6809040" y="4325257"/>
            <a:ext cx="448103"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734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p:cNvSpPr txBox="1"/>
          <p:nvPr/>
        </p:nvSpPr>
        <p:spPr>
          <a:xfrm>
            <a:off x="5031040" y="1586829"/>
            <a:ext cx="3556000" cy="369332"/>
          </a:xfrm>
          <a:prstGeom prst="rect">
            <a:avLst/>
          </a:prstGeom>
          <a:noFill/>
        </p:spPr>
        <p:txBody>
          <a:bodyPr wrap="square" rtlCol="0">
            <a:spAutoFit/>
          </a:bodyPr>
          <a:lstStyle/>
          <a:p>
            <a:r>
              <a:rPr lang="en-US" dirty="0" smtClean="0"/>
              <a:t>3-&gt;5</a:t>
            </a:r>
            <a:endParaRPr lang="ru-RU" dirty="0"/>
          </a:p>
        </p:txBody>
      </p:sp>
      <p:sp>
        <p:nvSpPr>
          <p:cNvPr id="42" name="Овал 41"/>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43" name="Овал 42"/>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44" name="Овал 43"/>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45" name="Овал 44"/>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46" name="Овал 45"/>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47" name="Прямая со стрелкой 46"/>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Таблица 52"/>
          <p:cNvGraphicFramePr>
            <a:graphicFrameLocks noGrp="1"/>
          </p:cNvGraphicFramePr>
          <p:nvPr>
            <p:extLst>
              <p:ext uri="{D42A27DB-BD31-4B8C-83A1-F6EECF244321}">
                <p14:modId xmlns:p14="http://schemas.microsoft.com/office/powerpoint/2010/main" val="3016192150"/>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3</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54"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55" name="TextBox 54"/>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56" name="Таблица 55"/>
          <p:cNvGraphicFramePr>
            <a:graphicFrameLocks noGrp="1"/>
          </p:cNvGraphicFramePr>
          <p:nvPr>
            <p:extLst>
              <p:ext uri="{D42A27DB-BD31-4B8C-83A1-F6EECF244321}">
                <p14:modId xmlns:p14="http://schemas.microsoft.com/office/powerpoint/2010/main" val="3950298974"/>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57" name="Прямая со стрелкой 56"/>
          <p:cNvCxnSpPr/>
          <p:nvPr/>
        </p:nvCxnSpPr>
        <p:spPr>
          <a:xfrm>
            <a:off x="6809040" y="3947886"/>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8" name="Таблица 57"/>
          <p:cNvGraphicFramePr>
            <a:graphicFrameLocks noGrp="1"/>
          </p:cNvGraphicFramePr>
          <p:nvPr>
            <p:extLst>
              <p:ext uri="{D42A27DB-BD31-4B8C-83A1-F6EECF244321}">
                <p14:modId xmlns:p14="http://schemas.microsoft.com/office/powerpoint/2010/main" val="3807767623"/>
              </p:ext>
            </p:extLst>
          </p:nvPr>
        </p:nvGraphicFramePr>
        <p:xfrm>
          <a:off x="7402286" y="3725980"/>
          <a:ext cx="493486" cy="1275315"/>
        </p:xfrm>
        <a:graphic>
          <a:graphicData uri="http://schemas.openxmlformats.org/drawingml/2006/table">
            <a:tbl>
              <a:tblPr firstRow="1" bandRow="1">
                <a:tableStyleId>{5C22544A-7EE6-4342-B048-85BDC9FD1C3A}</a:tableStyleId>
              </a:tblPr>
              <a:tblGrid>
                <a:gridCol w="493486"/>
              </a:tblGrid>
              <a:tr h="425105">
                <a:tc>
                  <a:txBody>
                    <a:bodyPr/>
                    <a:lstStyle/>
                    <a:p>
                      <a:r>
                        <a:rPr lang="en-US" dirty="0" smtClean="0"/>
                        <a:t>4</a:t>
                      </a:r>
                      <a:endParaRPr lang="ru-RU" dirty="0"/>
                    </a:p>
                  </a:txBody>
                  <a:tcPr/>
                </a:tc>
              </a:tr>
              <a:tr h="425105">
                <a:tc>
                  <a:txBody>
                    <a:bodyPr/>
                    <a:lstStyle/>
                    <a:p>
                      <a:r>
                        <a:rPr lang="en-US" dirty="0" smtClean="0"/>
                        <a:t>5</a:t>
                      </a:r>
                      <a:endParaRPr lang="ru-RU" dirty="0"/>
                    </a:p>
                  </a:txBody>
                  <a:tcPr/>
                </a:tc>
              </a:tr>
              <a:tr h="425105">
                <a:tc>
                  <a:txBody>
                    <a:bodyPr/>
                    <a:lstStyle/>
                    <a:p>
                      <a:r>
                        <a:rPr lang="en-US" dirty="0" smtClean="0"/>
                        <a:t>5</a:t>
                      </a:r>
                      <a:endParaRPr lang="ru-RU" dirty="0"/>
                    </a:p>
                  </a:txBody>
                  <a:tcPr/>
                </a:tc>
              </a:tr>
            </a:tbl>
          </a:graphicData>
        </a:graphic>
      </p:graphicFrame>
      <p:cxnSp>
        <p:nvCxnSpPr>
          <p:cNvPr id="59" name="Прямая со стрелкой 58"/>
          <p:cNvCxnSpPr/>
          <p:nvPr/>
        </p:nvCxnSpPr>
        <p:spPr>
          <a:xfrm>
            <a:off x="6809040" y="5109029"/>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Прямоугольник 59"/>
          <p:cNvSpPr/>
          <p:nvPr/>
        </p:nvSpPr>
        <p:spPr>
          <a:xfrm>
            <a:off x="7402285" y="4965005"/>
            <a:ext cx="464457" cy="362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61" name="Прямая со стрелкой 60"/>
          <p:cNvCxnSpPr/>
          <p:nvPr/>
        </p:nvCxnSpPr>
        <p:spPr>
          <a:xfrm>
            <a:off x="6809040" y="4325257"/>
            <a:ext cx="448103"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Прямая со стрелкой 62"/>
          <p:cNvCxnSpPr/>
          <p:nvPr/>
        </p:nvCxnSpPr>
        <p:spPr>
          <a:xfrm>
            <a:off x="6809040" y="4780615"/>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874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p:cNvSpPr txBox="1"/>
          <p:nvPr/>
        </p:nvSpPr>
        <p:spPr>
          <a:xfrm>
            <a:off x="5031040" y="1586829"/>
            <a:ext cx="3556000" cy="369332"/>
          </a:xfrm>
          <a:prstGeom prst="rect">
            <a:avLst/>
          </a:prstGeom>
          <a:noFill/>
        </p:spPr>
        <p:txBody>
          <a:bodyPr wrap="square" rtlCol="0">
            <a:spAutoFit/>
          </a:bodyPr>
          <a:lstStyle/>
          <a:p>
            <a:r>
              <a:rPr lang="en-US" dirty="0" smtClean="0"/>
              <a:t>3-&gt;1</a:t>
            </a:r>
            <a:endParaRPr lang="ru-RU" dirty="0"/>
          </a:p>
        </p:txBody>
      </p:sp>
      <p:sp>
        <p:nvSpPr>
          <p:cNvPr id="41" name="Овал 40"/>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42" name="Овал 41"/>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43" name="Овал 42"/>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44" name="Овал 43"/>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45" name="Овал 44"/>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46" name="Прямая со стрелкой 45"/>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2" name="Таблица 51"/>
          <p:cNvGraphicFramePr>
            <a:graphicFrameLocks noGrp="1"/>
          </p:cNvGraphicFramePr>
          <p:nvPr>
            <p:extLst>
              <p:ext uri="{D42A27DB-BD31-4B8C-83A1-F6EECF244321}">
                <p14:modId xmlns:p14="http://schemas.microsoft.com/office/powerpoint/2010/main" val="1305643855"/>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3</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53"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54" name="TextBox 53"/>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55" name="Таблица 54"/>
          <p:cNvGraphicFramePr>
            <a:graphicFrameLocks noGrp="1"/>
          </p:cNvGraphicFramePr>
          <p:nvPr>
            <p:extLst>
              <p:ext uri="{D42A27DB-BD31-4B8C-83A1-F6EECF244321}">
                <p14:modId xmlns:p14="http://schemas.microsoft.com/office/powerpoint/2010/main" val="2262895812"/>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56" name="Прямая со стрелкой 55"/>
          <p:cNvCxnSpPr/>
          <p:nvPr/>
        </p:nvCxnSpPr>
        <p:spPr>
          <a:xfrm>
            <a:off x="6809040" y="3947886"/>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Таблица 56"/>
          <p:cNvGraphicFramePr>
            <a:graphicFrameLocks noGrp="1"/>
          </p:cNvGraphicFramePr>
          <p:nvPr>
            <p:extLst>
              <p:ext uri="{D42A27DB-BD31-4B8C-83A1-F6EECF244321}">
                <p14:modId xmlns:p14="http://schemas.microsoft.com/office/powerpoint/2010/main" val="1770237113"/>
              </p:ext>
            </p:extLst>
          </p:nvPr>
        </p:nvGraphicFramePr>
        <p:xfrm>
          <a:off x="7402286" y="3725980"/>
          <a:ext cx="493486" cy="1275315"/>
        </p:xfrm>
        <a:graphic>
          <a:graphicData uri="http://schemas.openxmlformats.org/drawingml/2006/table">
            <a:tbl>
              <a:tblPr firstRow="1" bandRow="1">
                <a:tableStyleId>{5C22544A-7EE6-4342-B048-85BDC9FD1C3A}</a:tableStyleId>
              </a:tblPr>
              <a:tblGrid>
                <a:gridCol w="493486"/>
              </a:tblGrid>
              <a:tr h="425105">
                <a:tc>
                  <a:txBody>
                    <a:bodyPr/>
                    <a:lstStyle/>
                    <a:p>
                      <a:r>
                        <a:rPr lang="en-US" dirty="0" smtClean="0"/>
                        <a:t>4</a:t>
                      </a:r>
                      <a:endParaRPr lang="ru-RU" dirty="0"/>
                    </a:p>
                  </a:txBody>
                  <a:tcPr/>
                </a:tc>
              </a:tr>
              <a:tr h="425105">
                <a:tc>
                  <a:txBody>
                    <a:bodyPr/>
                    <a:lstStyle/>
                    <a:p>
                      <a:r>
                        <a:rPr lang="en-US" dirty="0" smtClean="0"/>
                        <a:t>5</a:t>
                      </a:r>
                      <a:endParaRPr lang="ru-RU" dirty="0"/>
                    </a:p>
                  </a:txBody>
                  <a:tcPr/>
                </a:tc>
              </a:tr>
              <a:tr h="425105">
                <a:tc>
                  <a:txBody>
                    <a:bodyPr/>
                    <a:lstStyle/>
                    <a:p>
                      <a:r>
                        <a:rPr lang="en-US" dirty="0" smtClean="0"/>
                        <a:t>5</a:t>
                      </a:r>
                      <a:endParaRPr lang="ru-RU" dirty="0"/>
                    </a:p>
                  </a:txBody>
                  <a:tcPr/>
                </a:tc>
              </a:tr>
            </a:tbl>
          </a:graphicData>
        </a:graphic>
      </p:graphicFrame>
      <p:cxnSp>
        <p:nvCxnSpPr>
          <p:cNvPr id="58" name="Прямая со стрелкой 57"/>
          <p:cNvCxnSpPr/>
          <p:nvPr/>
        </p:nvCxnSpPr>
        <p:spPr>
          <a:xfrm>
            <a:off x="6809040" y="5109029"/>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Прямоугольник 58"/>
          <p:cNvSpPr/>
          <p:nvPr/>
        </p:nvSpPr>
        <p:spPr>
          <a:xfrm>
            <a:off x="7402286" y="4965005"/>
            <a:ext cx="464457" cy="362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60" name="Прямая со стрелкой 59"/>
          <p:cNvCxnSpPr/>
          <p:nvPr/>
        </p:nvCxnSpPr>
        <p:spPr>
          <a:xfrm>
            <a:off x="6809040" y="4325257"/>
            <a:ext cx="448103"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p:cNvCxnSpPr/>
          <p:nvPr/>
        </p:nvCxnSpPr>
        <p:spPr>
          <a:xfrm>
            <a:off x="6809040" y="4780615"/>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Прямоугольник 61"/>
          <p:cNvSpPr/>
          <p:nvPr/>
        </p:nvSpPr>
        <p:spPr>
          <a:xfrm>
            <a:off x="8475431" y="4601029"/>
            <a:ext cx="429212" cy="3639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cxnSp>
        <p:nvCxnSpPr>
          <p:cNvPr id="64" name="Прямая со стрелкой 63"/>
          <p:cNvCxnSpPr/>
          <p:nvPr/>
        </p:nvCxnSpPr>
        <p:spPr>
          <a:xfrm>
            <a:off x="8084457" y="4780615"/>
            <a:ext cx="2757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54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p:cNvSpPr txBox="1"/>
          <p:nvPr/>
        </p:nvSpPr>
        <p:spPr>
          <a:xfrm>
            <a:off x="5031040" y="1586829"/>
            <a:ext cx="3556000" cy="369332"/>
          </a:xfrm>
          <a:prstGeom prst="rect">
            <a:avLst/>
          </a:prstGeom>
          <a:noFill/>
        </p:spPr>
        <p:txBody>
          <a:bodyPr wrap="square" rtlCol="0">
            <a:spAutoFit/>
          </a:bodyPr>
          <a:lstStyle/>
          <a:p>
            <a:r>
              <a:rPr lang="en-US" dirty="0" smtClean="0"/>
              <a:t>3-&gt;4</a:t>
            </a:r>
            <a:endParaRPr lang="ru-RU" dirty="0"/>
          </a:p>
        </p:txBody>
      </p:sp>
      <p:sp>
        <p:nvSpPr>
          <p:cNvPr id="44" name="Овал 43"/>
          <p:cNvSpPr/>
          <p:nvPr/>
        </p:nvSpPr>
        <p:spPr>
          <a:xfrm>
            <a:off x="2751865" y="862284"/>
            <a:ext cx="1037229" cy="94169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sp>
        <p:nvSpPr>
          <p:cNvPr id="45" name="Овал 44"/>
          <p:cNvSpPr/>
          <p:nvPr/>
        </p:nvSpPr>
        <p:spPr>
          <a:xfrm>
            <a:off x="663758" y="2119302"/>
            <a:ext cx="1105468" cy="95534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ru-RU" dirty="0"/>
          </a:p>
        </p:txBody>
      </p:sp>
      <p:sp>
        <p:nvSpPr>
          <p:cNvPr id="46" name="Овал 45"/>
          <p:cNvSpPr/>
          <p:nvPr/>
        </p:nvSpPr>
        <p:spPr>
          <a:xfrm>
            <a:off x="4662694" y="2277118"/>
            <a:ext cx="1091821" cy="9689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ru-RU" dirty="0"/>
          </a:p>
        </p:txBody>
      </p:sp>
      <p:sp>
        <p:nvSpPr>
          <p:cNvPr id="47" name="Овал 46"/>
          <p:cNvSpPr/>
          <p:nvPr/>
        </p:nvSpPr>
        <p:spPr>
          <a:xfrm>
            <a:off x="1475908" y="3675146"/>
            <a:ext cx="1228298" cy="11054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5</a:t>
            </a:r>
            <a:endParaRPr lang="ru-RU" dirty="0"/>
          </a:p>
        </p:txBody>
      </p:sp>
      <p:sp>
        <p:nvSpPr>
          <p:cNvPr id="48" name="Овал 47"/>
          <p:cNvSpPr/>
          <p:nvPr/>
        </p:nvSpPr>
        <p:spPr>
          <a:xfrm>
            <a:off x="3789094" y="3675146"/>
            <a:ext cx="1241946" cy="11600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49" name="Прямая со стрелкой 48"/>
          <p:cNvCxnSpPr/>
          <p:nvPr/>
        </p:nvCxnSpPr>
        <p:spPr>
          <a:xfrm flipV="1">
            <a:off x="1769226" y="1666072"/>
            <a:ext cx="982639" cy="583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p:nvPr/>
        </p:nvCxnSpPr>
        <p:spPr>
          <a:xfrm>
            <a:off x="3995902" y="1729546"/>
            <a:ext cx="709684"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p:cNvCxnSpPr/>
          <p:nvPr/>
        </p:nvCxnSpPr>
        <p:spPr>
          <a:xfrm>
            <a:off x="2090057" y="2669004"/>
            <a:ext cx="2206172" cy="33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p:cNvCxnSpPr/>
          <p:nvPr/>
        </p:nvCxnSpPr>
        <p:spPr>
          <a:xfrm flipH="1">
            <a:off x="4864082" y="3268963"/>
            <a:ext cx="166958" cy="45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p:cNvCxnSpPr/>
          <p:nvPr/>
        </p:nvCxnSpPr>
        <p:spPr>
          <a:xfrm flipH="1">
            <a:off x="2751865" y="4151085"/>
            <a:ext cx="920249" cy="49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Прямая со стрелкой 53"/>
          <p:cNvCxnSpPr/>
          <p:nvPr/>
        </p:nvCxnSpPr>
        <p:spPr>
          <a:xfrm>
            <a:off x="1475908" y="3088293"/>
            <a:ext cx="293318" cy="532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Таблица 54"/>
          <p:cNvGraphicFramePr>
            <a:graphicFrameLocks noGrp="1"/>
          </p:cNvGraphicFramePr>
          <p:nvPr>
            <p:extLst>
              <p:ext uri="{D42A27DB-BD31-4B8C-83A1-F6EECF244321}">
                <p14:modId xmlns:p14="http://schemas.microsoft.com/office/powerpoint/2010/main" val="3389338045"/>
              </p:ext>
            </p:extLst>
          </p:nvPr>
        </p:nvGraphicFramePr>
        <p:xfrm>
          <a:off x="6004570" y="843641"/>
          <a:ext cx="5689602" cy="2225040"/>
        </p:xfrm>
        <a:graphic>
          <a:graphicData uri="http://schemas.openxmlformats.org/drawingml/2006/table">
            <a:tbl>
              <a:tblPr firstRow="1" bandRow="1">
                <a:tableStyleId>{5C22544A-7EE6-4342-B048-85BDC9FD1C3A}</a:tableStyleId>
              </a:tblPr>
              <a:tblGrid>
                <a:gridCol w="948267"/>
                <a:gridCol w="948267"/>
                <a:gridCol w="948267"/>
                <a:gridCol w="948267"/>
                <a:gridCol w="948267"/>
                <a:gridCol w="948267"/>
              </a:tblGrid>
              <a:tr h="370840">
                <a:tc>
                  <a:txBody>
                    <a:bodyPr/>
                    <a:lstStyle/>
                    <a:p>
                      <a:endParaRPr lang="ru-RU" dirty="0"/>
                    </a:p>
                  </a:txBody>
                  <a:tcPr/>
                </a:tc>
                <a:tc>
                  <a:txBody>
                    <a:bodyPr/>
                    <a:lstStyle/>
                    <a:p>
                      <a:r>
                        <a:rPr lang="en-US" dirty="0" smtClean="0"/>
                        <a:t>1</a:t>
                      </a:r>
                      <a:endParaRPr lang="ru-RU" dirty="0"/>
                    </a:p>
                  </a:txBody>
                  <a:tcPr/>
                </a:tc>
                <a:tc>
                  <a:txBody>
                    <a:bodyPr/>
                    <a:lstStyle/>
                    <a:p>
                      <a:r>
                        <a:rPr lang="en-US" dirty="0" smtClean="0"/>
                        <a:t>2</a:t>
                      </a:r>
                      <a:endParaRPr lang="ru-RU" dirty="0"/>
                    </a:p>
                  </a:txBody>
                  <a:tcPr/>
                </a:tc>
                <a:tc>
                  <a:txBody>
                    <a:bodyPr/>
                    <a:lstStyle/>
                    <a:p>
                      <a:r>
                        <a:rPr lang="en-US" dirty="0" smtClean="0"/>
                        <a:t>3</a:t>
                      </a:r>
                      <a:endParaRPr lang="ru-RU" dirty="0"/>
                    </a:p>
                  </a:txBody>
                  <a:tcPr/>
                </a:tc>
                <a:tc>
                  <a:txBody>
                    <a:bodyPr/>
                    <a:lstStyle/>
                    <a:p>
                      <a:r>
                        <a:rPr lang="en-US" dirty="0" smtClean="0"/>
                        <a:t>4</a:t>
                      </a:r>
                      <a:endParaRPr lang="ru-RU" dirty="0"/>
                    </a:p>
                  </a:txBody>
                  <a:tcPr/>
                </a:tc>
                <a:tc>
                  <a:txBody>
                    <a:bodyPr/>
                    <a:lstStyle/>
                    <a:p>
                      <a:r>
                        <a:rPr lang="en-US" dirty="0" smtClean="0"/>
                        <a:t>5</a:t>
                      </a:r>
                      <a:endParaRPr lang="ru-RU" dirty="0"/>
                    </a:p>
                  </a:txBody>
                  <a:tcPr/>
                </a:tc>
              </a:tr>
              <a:tr h="370840">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r>
              <a:tr h="370840">
                <a:tc>
                  <a:txBody>
                    <a:bodyPr/>
                    <a:lstStyle/>
                    <a:p>
                      <a:r>
                        <a:rPr lang="en-US" dirty="0" smtClean="0"/>
                        <a:t>2</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r>
              <a:tr h="370840">
                <a:tc>
                  <a:txBody>
                    <a:bodyPr/>
                    <a:lstStyle/>
                    <a:p>
                      <a:r>
                        <a:rPr lang="en-US" dirty="0" smtClean="0"/>
                        <a:t>3</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1</a:t>
                      </a:r>
                      <a:endParaRPr lang="ru-RU" dirty="0"/>
                    </a:p>
                  </a:txBody>
                  <a:tcPr/>
                </a:tc>
              </a:tr>
              <a:tr h="370840">
                <a:tc>
                  <a:txBody>
                    <a:bodyPr/>
                    <a:lstStyle/>
                    <a:p>
                      <a:r>
                        <a:rPr lang="en-US" dirty="0" smtClean="0"/>
                        <a:t>4</a:t>
                      </a:r>
                      <a:endParaRPr lang="ru-RU" dirty="0"/>
                    </a:p>
                  </a:txBody>
                  <a:tcPr/>
                </a:tc>
                <a:tc>
                  <a:txBody>
                    <a:bodyPr/>
                    <a:lstStyle/>
                    <a:p>
                      <a:r>
                        <a:rPr lang="en-US" dirty="0" smtClean="0"/>
                        <a:t>0</a:t>
                      </a:r>
                      <a:endParaRPr lang="ru-RU" dirty="0"/>
                    </a:p>
                  </a:txBody>
                  <a:tcPr/>
                </a:tc>
                <a:tc>
                  <a:txBody>
                    <a:bodyPr/>
                    <a:lstStyle/>
                    <a:p>
                      <a:r>
                        <a:rPr lang="en-US" dirty="0" smtClean="0"/>
                        <a:t>1</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r h="370840">
                <a:tc>
                  <a:txBody>
                    <a:bodyPr/>
                    <a:lstStyle/>
                    <a:p>
                      <a:r>
                        <a:rPr lang="en-US" dirty="0" smtClean="0"/>
                        <a:t>5</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c>
                  <a:txBody>
                    <a:bodyPr/>
                    <a:lstStyle/>
                    <a:p>
                      <a:r>
                        <a:rPr lang="en-US" dirty="0" smtClean="0"/>
                        <a:t>0</a:t>
                      </a:r>
                      <a:endParaRPr lang="ru-RU" dirty="0"/>
                    </a:p>
                  </a:txBody>
                  <a:tcPr/>
                </a:tc>
              </a:tr>
            </a:tbl>
          </a:graphicData>
        </a:graphic>
      </p:graphicFrame>
      <p:sp>
        <p:nvSpPr>
          <p:cNvPr id="56" name="Заголовок 27"/>
          <p:cNvSpPr txBox="1">
            <a:spLocks/>
          </p:cNvSpPr>
          <p:nvPr/>
        </p:nvSpPr>
        <p:spPr>
          <a:xfrm>
            <a:off x="6313973" y="230166"/>
            <a:ext cx="5181341" cy="96421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i="1" smtClean="0"/>
              <a:t>Adjacency-matrix</a:t>
            </a:r>
            <a:endParaRPr lang="ru-RU" sz="2800" dirty="0"/>
          </a:p>
        </p:txBody>
      </p:sp>
      <p:sp>
        <p:nvSpPr>
          <p:cNvPr id="57" name="TextBox 56"/>
          <p:cNvSpPr txBox="1"/>
          <p:nvPr/>
        </p:nvSpPr>
        <p:spPr>
          <a:xfrm>
            <a:off x="6610345" y="3198973"/>
            <a:ext cx="3730172" cy="523220"/>
          </a:xfrm>
          <a:prstGeom prst="rect">
            <a:avLst/>
          </a:prstGeom>
          <a:noFill/>
        </p:spPr>
        <p:txBody>
          <a:bodyPr wrap="square" rtlCol="0">
            <a:spAutoFit/>
          </a:bodyPr>
          <a:lstStyle/>
          <a:p>
            <a:r>
              <a:rPr lang="en-US" sz="2800" i="1" dirty="0" smtClean="0"/>
              <a:t>Adjacency-list</a:t>
            </a:r>
            <a:endParaRPr lang="ru-RU" sz="2800" i="1" dirty="0"/>
          </a:p>
        </p:txBody>
      </p:sp>
      <p:graphicFrame>
        <p:nvGraphicFramePr>
          <p:cNvPr id="58" name="Таблица 57"/>
          <p:cNvGraphicFramePr>
            <a:graphicFrameLocks noGrp="1"/>
          </p:cNvGraphicFramePr>
          <p:nvPr>
            <p:extLst>
              <p:ext uri="{D42A27DB-BD31-4B8C-83A1-F6EECF244321}">
                <p14:modId xmlns:p14="http://schemas.microsoft.com/office/powerpoint/2010/main" val="3111390439"/>
              </p:ext>
            </p:extLst>
          </p:nvPr>
        </p:nvGraphicFramePr>
        <p:xfrm>
          <a:off x="6049345" y="3735083"/>
          <a:ext cx="522514" cy="1949340"/>
        </p:xfrm>
        <a:graphic>
          <a:graphicData uri="http://schemas.openxmlformats.org/drawingml/2006/table">
            <a:tbl>
              <a:tblPr firstRow="1" bandRow="1">
                <a:tableStyleId>{5C22544A-7EE6-4342-B048-85BDC9FD1C3A}</a:tableStyleId>
              </a:tblPr>
              <a:tblGrid>
                <a:gridCol w="522514"/>
              </a:tblGrid>
              <a:tr h="389868">
                <a:tc>
                  <a:txBody>
                    <a:bodyPr/>
                    <a:lstStyle/>
                    <a:p>
                      <a:r>
                        <a:rPr lang="en-US" dirty="0" smtClean="0"/>
                        <a:t>1</a:t>
                      </a:r>
                      <a:endParaRPr lang="ru-RU" dirty="0"/>
                    </a:p>
                  </a:txBody>
                  <a:tcPr/>
                </a:tc>
              </a:tr>
              <a:tr h="389868">
                <a:tc>
                  <a:txBody>
                    <a:bodyPr/>
                    <a:lstStyle/>
                    <a:p>
                      <a:r>
                        <a:rPr lang="en-US" dirty="0" smtClean="0"/>
                        <a:t>2</a:t>
                      </a:r>
                      <a:endParaRPr lang="ru-RU" dirty="0"/>
                    </a:p>
                  </a:txBody>
                  <a:tcPr/>
                </a:tc>
              </a:tr>
              <a:tr h="389868">
                <a:tc>
                  <a:txBody>
                    <a:bodyPr/>
                    <a:lstStyle/>
                    <a:p>
                      <a:r>
                        <a:rPr lang="en-US" dirty="0" smtClean="0"/>
                        <a:t>3</a:t>
                      </a:r>
                      <a:endParaRPr lang="ru-RU" dirty="0"/>
                    </a:p>
                  </a:txBody>
                  <a:tcPr/>
                </a:tc>
              </a:tr>
              <a:tr h="389868">
                <a:tc>
                  <a:txBody>
                    <a:bodyPr/>
                    <a:lstStyle/>
                    <a:p>
                      <a:r>
                        <a:rPr lang="en-US" dirty="0" smtClean="0"/>
                        <a:t>4</a:t>
                      </a:r>
                      <a:endParaRPr lang="ru-RU" dirty="0"/>
                    </a:p>
                  </a:txBody>
                  <a:tcPr/>
                </a:tc>
              </a:tr>
              <a:tr h="389868">
                <a:tc>
                  <a:txBody>
                    <a:bodyPr/>
                    <a:lstStyle/>
                    <a:p>
                      <a:r>
                        <a:rPr lang="en-US" dirty="0" smtClean="0"/>
                        <a:t>5</a:t>
                      </a:r>
                      <a:endParaRPr lang="ru-RU" dirty="0"/>
                    </a:p>
                  </a:txBody>
                  <a:tcPr/>
                </a:tc>
              </a:tr>
            </a:tbl>
          </a:graphicData>
        </a:graphic>
      </p:graphicFrame>
      <p:cxnSp>
        <p:nvCxnSpPr>
          <p:cNvPr id="59" name="Прямая со стрелкой 58"/>
          <p:cNvCxnSpPr/>
          <p:nvPr/>
        </p:nvCxnSpPr>
        <p:spPr>
          <a:xfrm>
            <a:off x="6809040" y="3947886"/>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0" name="Таблица 59"/>
          <p:cNvGraphicFramePr>
            <a:graphicFrameLocks noGrp="1"/>
          </p:cNvGraphicFramePr>
          <p:nvPr>
            <p:extLst>
              <p:ext uri="{D42A27DB-BD31-4B8C-83A1-F6EECF244321}">
                <p14:modId xmlns:p14="http://schemas.microsoft.com/office/powerpoint/2010/main" val="1865670208"/>
              </p:ext>
            </p:extLst>
          </p:nvPr>
        </p:nvGraphicFramePr>
        <p:xfrm>
          <a:off x="7402286" y="3725980"/>
          <a:ext cx="493486" cy="1275315"/>
        </p:xfrm>
        <a:graphic>
          <a:graphicData uri="http://schemas.openxmlformats.org/drawingml/2006/table">
            <a:tbl>
              <a:tblPr firstRow="1" bandRow="1">
                <a:tableStyleId>{5C22544A-7EE6-4342-B048-85BDC9FD1C3A}</a:tableStyleId>
              </a:tblPr>
              <a:tblGrid>
                <a:gridCol w="493486"/>
              </a:tblGrid>
              <a:tr h="425105">
                <a:tc>
                  <a:txBody>
                    <a:bodyPr/>
                    <a:lstStyle/>
                    <a:p>
                      <a:r>
                        <a:rPr lang="en-US" dirty="0" smtClean="0"/>
                        <a:t>4</a:t>
                      </a:r>
                      <a:endParaRPr lang="ru-RU" dirty="0"/>
                    </a:p>
                  </a:txBody>
                  <a:tcPr/>
                </a:tc>
              </a:tr>
              <a:tr h="425105">
                <a:tc>
                  <a:txBody>
                    <a:bodyPr/>
                    <a:lstStyle/>
                    <a:p>
                      <a:r>
                        <a:rPr lang="en-US" dirty="0" smtClean="0"/>
                        <a:t>5</a:t>
                      </a:r>
                      <a:endParaRPr lang="ru-RU" dirty="0"/>
                    </a:p>
                  </a:txBody>
                  <a:tcPr/>
                </a:tc>
              </a:tr>
              <a:tr h="425105">
                <a:tc>
                  <a:txBody>
                    <a:bodyPr/>
                    <a:lstStyle/>
                    <a:p>
                      <a:r>
                        <a:rPr lang="en-US" dirty="0" smtClean="0"/>
                        <a:t>5</a:t>
                      </a:r>
                      <a:endParaRPr lang="ru-RU" dirty="0"/>
                    </a:p>
                  </a:txBody>
                  <a:tcPr/>
                </a:tc>
              </a:tr>
            </a:tbl>
          </a:graphicData>
        </a:graphic>
      </p:graphicFrame>
      <p:cxnSp>
        <p:nvCxnSpPr>
          <p:cNvPr id="61" name="Прямая со стрелкой 60"/>
          <p:cNvCxnSpPr/>
          <p:nvPr/>
        </p:nvCxnSpPr>
        <p:spPr>
          <a:xfrm>
            <a:off x="6809040" y="5109029"/>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Прямоугольник 61"/>
          <p:cNvSpPr/>
          <p:nvPr/>
        </p:nvSpPr>
        <p:spPr>
          <a:xfrm>
            <a:off x="7402286" y="4965005"/>
            <a:ext cx="464457" cy="362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ru-RU" dirty="0"/>
          </a:p>
        </p:txBody>
      </p:sp>
      <p:cxnSp>
        <p:nvCxnSpPr>
          <p:cNvPr id="63" name="Прямая со стрелкой 62"/>
          <p:cNvCxnSpPr/>
          <p:nvPr/>
        </p:nvCxnSpPr>
        <p:spPr>
          <a:xfrm>
            <a:off x="6809040" y="4325257"/>
            <a:ext cx="448103" cy="14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Прямая со стрелкой 63"/>
          <p:cNvCxnSpPr/>
          <p:nvPr/>
        </p:nvCxnSpPr>
        <p:spPr>
          <a:xfrm>
            <a:off x="6809040" y="4780615"/>
            <a:ext cx="4481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Прямоугольник 64"/>
          <p:cNvSpPr/>
          <p:nvPr/>
        </p:nvSpPr>
        <p:spPr>
          <a:xfrm>
            <a:off x="8475431" y="4601029"/>
            <a:ext cx="429212" cy="3639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ru-RU" dirty="0"/>
          </a:p>
        </p:txBody>
      </p:sp>
      <p:cxnSp>
        <p:nvCxnSpPr>
          <p:cNvPr id="66" name="Прямая со стрелкой 65"/>
          <p:cNvCxnSpPr/>
          <p:nvPr/>
        </p:nvCxnSpPr>
        <p:spPr>
          <a:xfrm>
            <a:off x="8084457" y="4780615"/>
            <a:ext cx="2757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Прямая со стрелкой 67"/>
          <p:cNvCxnSpPr/>
          <p:nvPr/>
        </p:nvCxnSpPr>
        <p:spPr>
          <a:xfrm>
            <a:off x="9158514" y="4780615"/>
            <a:ext cx="3628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Прямоугольник 68"/>
          <p:cNvSpPr/>
          <p:nvPr/>
        </p:nvSpPr>
        <p:spPr>
          <a:xfrm>
            <a:off x="9710057" y="4601029"/>
            <a:ext cx="464457" cy="3639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ru-RU" dirty="0"/>
          </a:p>
        </p:txBody>
      </p:sp>
    </p:spTree>
    <p:extLst>
      <p:ext uri="{BB962C8B-B14F-4D97-AF65-F5344CB8AC3E}">
        <p14:creationId xmlns:p14="http://schemas.microsoft.com/office/powerpoint/2010/main" val="1698479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a:xfrm>
            <a:off x="874220" y="138820"/>
            <a:ext cx="9404723" cy="1400530"/>
          </a:xfrm>
        </p:spPr>
        <p:txBody>
          <a:bodyPr/>
          <a:lstStyle/>
          <a:p>
            <a:r>
              <a:rPr lang="en-US" dirty="0" smtClean="0"/>
              <a:t>           Implementing Digraph</a:t>
            </a:r>
            <a:br>
              <a:rPr lang="en-US" dirty="0" smtClean="0"/>
            </a:br>
            <a:r>
              <a:rPr lang="en-US" dirty="0" smtClean="0"/>
              <a:t>					 using </a:t>
            </a:r>
            <a:r>
              <a:rPr lang="en-US" sz="4400" i="1" dirty="0"/>
              <a:t>Adjacency-list</a:t>
            </a:r>
            <a:r>
              <a:rPr lang="ru-RU" sz="4400" i="1" dirty="0"/>
              <a:t/>
            </a:r>
            <a:br>
              <a:rPr lang="ru-RU" sz="4400" i="1" dirty="0"/>
            </a:br>
            <a:endParaRPr lang="ru-RU" dirty="0"/>
          </a:p>
        </p:txBody>
      </p:sp>
      <p:sp>
        <p:nvSpPr>
          <p:cNvPr id="3" name="Объект 2"/>
          <p:cNvSpPr>
            <a:spLocks noGrp="1"/>
          </p:cNvSpPr>
          <p:nvPr>
            <p:ph idx="1"/>
          </p:nvPr>
        </p:nvSpPr>
        <p:spPr>
          <a:xfrm>
            <a:off x="1185199" y="1733266"/>
            <a:ext cx="8368233" cy="4722126"/>
          </a:xfrm>
        </p:spPr>
        <p:txBody>
          <a:bodyPr>
            <a:normAutofit fontScale="92500" lnSpcReduction="20000"/>
          </a:bodyPr>
          <a:lstStyle/>
          <a:p>
            <a:pPr marL="0" indent="0">
              <a:buNone/>
            </a:pPr>
            <a:endParaRPr lang="en-US" dirty="0" smtClean="0"/>
          </a:p>
          <a:p>
            <a:pPr marL="0" indent="0">
              <a:buNone/>
            </a:pPr>
            <a:endParaRPr lang="en-US" dirty="0"/>
          </a:p>
          <a:p>
            <a:pPr marL="0" indent="0">
              <a:buNone/>
            </a:pPr>
            <a:r>
              <a:rPr lang="en-US" dirty="0" smtClean="0"/>
              <a:t>We have Class </a:t>
            </a:r>
            <a:r>
              <a:rPr lang="en-US" dirty="0"/>
              <a:t>to store edges of the weighted graph</a:t>
            </a:r>
            <a:endParaRPr lang="en-US" dirty="0" smtClean="0"/>
          </a:p>
          <a:p>
            <a:pPr marL="0" indent="0">
              <a:buNone/>
            </a:pPr>
            <a:endParaRPr lang="en-US" dirty="0"/>
          </a:p>
          <a:p>
            <a:pPr marL="0" indent="0">
              <a:buNone/>
            </a:pPr>
            <a:r>
              <a:rPr lang="en-US" dirty="0"/>
              <a:t>import </a:t>
            </a:r>
            <a:r>
              <a:rPr lang="en-US" dirty="0" err="1"/>
              <a:t>java.util</a:t>
            </a:r>
            <a:r>
              <a:rPr lang="en-US" dirty="0"/>
              <a:t>.*;</a:t>
            </a:r>
            <a:endParaRPr lang="en-US" dirty="0" smtClean="0"/>
          </a:p>
          <a:p>
            <a:pPr marL="0" indent="0">
              <a:buNone/>
            </a:pPr>
            <a:r>
              <a:rPr lang="en-US" dirty="0" smtClean="0"/>
              <a:t>class Edge {</a:t>
            </a:r>
          </a:p>
          <a:p>
            <a:pPr marL="0" indent="0">
              <a:buNone/>
            </a:pPr>
            <a:r>
              <a:rPr lang="en-US" dirty="0" smtClean="0"/>
              <a:t>   </a:t>
            </a:r>
            <a:r>
              <a:rPr lang="en-US" dirty="0" err="1" smtClean="0"/>
              <a:t>int</a:t>
            </a:r>
            <a:r>
              <a:rPr lang="en-US" dirty="0" smtClean="0"/>
              <a:t> </a:t>
            </a:r>
            <a:r>
              <a:rPr lang="en-US" dirty="0" err="1" smtClean="0"/>
              <a:t>src</a:t>
            </a:r>
            <a:r>
              <a:rPr lang="en-US" dirty="0" smtClean="0"/>
              <a:t>, </a:t>
            </a:r>
            <a:r>
              <a:rPr lang="en-US" dirty="0" err="1" smtClean="0"/>
              <a:t>dest</a:t>
            </a:r>
            <a:r>
              <a:rPr lang="en-US" dirty="0" smtClean="0"/>
              <a:t>, weight;</a:t>
            </a:r>
          </a:p>
          <a:p>
            <a:pPr marL="0" indent="0">
              <a:buNone/>
            </a:pPr>
            <a:r>
              <a:rPr lang="en-US" dirty="0" smtClean="0"/>
              <a:t>    Edge(</a:t>
            </a:r>
            <a:r>
              <a:rPr lang="en-US" dirty="0" err="1" smtClean="0"/>
              <a:t>int</a:t>
            </a:r>
            <a:r>
              <a:rPr lang="en-US" dirty="0" smtClean="0"/>
              <a:t> </a:t>
            </a:r>
            <a:r>
              <a:rPr lang="en-US" dirty="0" err="1" smtClean="0"/>
              <a:t>src</a:t>
            </a:r>
            <a:r>
              <a:rPr lang="en-US" dirty="0" smtClean="0"/>
              <a:t>, </a:t>
            </a:r>
            <a:r>
              <a:rPr lang="en-US" dirty="0" err="1" smtClean="0"/>
              <a:t>int</a:t>
            </a:r>
            <a:r>
              <a:rPr lang="en-US" dirty="0" smtClean="0"/>
              <a:t> </a:t>
            </a:r>
            <a:r>
              <a:rPr lang="en-US" dirty="0" err="1" smtClean="0"/>
              <a:t>dest</a:t>
            </a:r>
            <a:r>
              <a:rPr lang="en-US" dirty="0" smtClean="0"/>
              <a:t>, </a:t>
            </a:r>
            <a:r>
              <a:rPr lang="en-US" dirty="0" err="1" smtClean="0"/>
              <a:t>int</a:t>
            </a:r>
            <a:r>
              <a:rPr lang="en-US" dirty="0" smtClean="0"/>
              <a:t> weight) {</a:t>
            </a:r>
          </a:p>
          <a:p>
            <a:pPr marL="0" indent="0">
              <a:buNone/>
            </a:pPr>
            <a:r>
              <a:rPr lang="en-US" dirty="0" smtClean="0"/>
              <a:t>            </a:t>
            </a:r>
            <a:r>
              <a:rPr lang="en-US" dirty="0" err="1" smtClean="0"/>
              <a:t>this.src</a:t>
            </a:r>
            <a:r>
              <a:rPr lang="en-US" dirty="0" smtClean="0"/>
              <a:t> = </a:t>
            </a:r>
            <a:r>
              <a:rPr lang="en-US" dirty="0" err="1" smtClean="0"/>
              <a:t>src</a:t>
            </a:r>
            <a:r>
              <a:rPr lang="en-US" dirty="0" smtClean="0"/>
              <a:t>;</a:t>
            </a:r>
          </a:p>
          <a:p>
            <a:pPr marL="0" indent="0">
              <a:buNone/>
            </a:pPr>
            <a:r>
              <a:rPr lang="en-US" dirty="0" smtClean="0"/>
              <a:t>            </a:t>
            </a:r>
            <a:r>
              <a:rPr lang="en-US" dirty="0" err="1" smtClean="0"/>
              <a:t>this.dest</a:t>
            </a:r>
            <a:r>
              <a:rPr lang="en-US" dirty="0" smtClean="0"/>
              <a:t> = </a:t>
            </a:r>
            <a:r>
              <a:rPr lang="en-US" dirty="0" err="1" smtClean="0"/>
              <a:t>dest</a:t>
            </a:r>
            <a:r>
              <a:rPr lang="en-US" dirty="0" smtClean="0"/>
              <a:t>;</a:t>
            </a:r>
          </a:p>
          <a:p>
            <a:pPr marL="0" indent="0">
              <a:buNone/>
            </a:pPr>
            <a:r>
              <a:rPr lang="en-US" dirty="0" smtClean="0"/>
              <a:t>            </a:t>
            </a:r>
            <a:r>
              <a:rPr lang="en-US" dirty="0" err="1" smtClean="0"/>
              <a:t>this.weight</a:t>
            </a:r>
            <a:r>
              <a:rPr lang="en-US" dirty="0" smtClean="0"/>
              <a:t> = weight;</a:t>
            </a:r>
          </a:p>
          <a:p>
            <a:pPr marL="0" indent="0">
              <a:buNone/>
            </a:pPr>
            <a:r>
              <a:rPr lang="en-US" dirty="0" smtClean="0"/>
              <a:t>        }</a:t>
            </a:r>
          </a:p>
          <a:p>
            <a:pPr marL="0" indent="0">
              <a:buNone/>
            </a:pPr>
            <a:r>
              <a:rPr lang="en-US" dirty="0" smtClean="0"/>
              <a:t>}</a:t>
            </a:r>
            <a:endParaRPr lang="ru-RU" dirty="0"/>
          </a:p>
        </p:txBody>
      </p:sp>
    </p:spTree>
    <p:extLst>
      <p:ext uri="{BB962C8B-B14F-4D97-AF65-F5344CB8AC3E}">
        <p14:creationId xmlns:p14="http://schemas.microsoft.com/office/powerpoint/2010/main" val="3039318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6111" y="452718"/>
            <a:ext cx="9229409" cy="987462"/>
          </a:xfrm>
        </p:spPr>
        <p:txBody>
          <a:bodyPr/>
          <a:lstStyle/>
          <a:p>
            <a:r>
              <a:rPr lang="en-US" sz="2800" dirty="0" smtClean="0"/>
              <a:t>Here we have our Graph class and static Node class</a:t>
            </a:r>
            <a:br>
              <a:rPr lang="en-US" sz="2800" dirty="0" smtClean="0"/>
            </a:br>
            <a:r>
              <a:rPr lang="en-US" sz="2800" dirty="0" smtClean="0"/>
              <a:t>with defining adjacency list</a:t>
            </a:r>
            <a:endParaRPr lang="ru-RU" sz="2800" dirty="0"/>
          </a:p>
        </p:txBody>
      </p:sp>
      <p:sp>
        <p:nvSpPr>
          <p:cNvPr id="3" name="Объект 2"/>
          <p:cNvSpPr>
            <a:spLocks noGrp="1"/>
          </p:cNvSpPr>
          <p:nvPr>
            <p:ph idx="1"/>
          </p:nvPr>
        </p:nvSpPr>
        <p:spPr/>
        <p:txBody>
          <a:bodyPr>
            <a:normAutofit fontScale="85000" lnSpcReduction="20000"/>
          </a:bodyPr>
          <a:lstStyle/>
          <a:p>
            <a:pPr marL="0" indent="0">
              <a:buNone/>
            </a:pPr>
            <a:r>
              <a:rPr lang="en-US" dirty="0"/>
              <a:t>class Graph {</a:t>
            </a:r>
          </a:p>
          <a:p>
            <a:pPr marL="0" indent="0">
              <a:buNone/>
            </a:pPr>
            <a:r>
              <a:rPr lang="en-US" dirty="0"/>
              <a:t>    // node of adjacency list </a:t>
            </a:r>
          </a:p>
          <a:p>
            <a:pPr marL="0" indent="0">
              <a:buNone/>
            </a:pPr>
            <a:r>
              <a:rPr lang="en-US" dirty="0"/>
              <a:t>    static class Node {</a:t>
            </a:r>
          </a:p>
          <a:p>
            <a:pPr marL="0" indent="0">
              <a:buNone/>
            </a:pPr>
            <a:r>
              <a:rPr lang="en-US" dirty="0"/>
              <a:t>        </a:t>
            </a:r>
            <a:r>
              <a:rPr lang="en-US" dirty="0" err="1"/>
              <a:t>int</a:t>
            </a:r>
            <a:r>
              <a:rPr lang="en-US" dirty="0"/>
              <a:t> value, weight;</a:t>
            </a:r>
          </a:p>
          <a:p>
            <a:pPr marL="0" indent="0">
              <a:buNone/>
            </a:pPr>
            <a:r>
              <a:rPr lang="en-US" dirty="0"/>
              <a:t>        Node(</a:t>
            </a:r>
            <a:r>
              <a:rPr lang="en-US" dirty="0" err="1"/>
              <a:t>int</a:t>
            </a:r>
            <a:r>
              <a:rPr lang="en-US" dirty="0"/>
              <a:t> value, </a:t>
            </a:r>
            <a:r>
              <a:rPr lang="en-US" dirty="0" err="1"/>
              <a:t>int</a:t>
            </a:r>
            <a:r>
              <a:rPr lang="en-US" dirty="0"/>
              <a:t> weight)  {</a:t>
            </a:r>
          </a:p>
          <a:p>
            <a:pPr marL="0" indent="0">
              <a:buNone/>
            </a:pPr>
            <a:r>
              <a:rPr lang="en-US" dirty="0"/>
              <a:t>            </a:t>
            </a:r>
            <a:r>
              <a:rPr lang="en-US" dirty="0" err="1"/>
              <a:t>this.value</a:t>
            </a:r>
            <a:r>
              <a:rPr lang="en-US" dirty="0"/>
              <a:t> = value;</a:t>
            </a:r>
          </a:p>
          <a:p>
            <a:pPr marL="0" indent="0">
              <a:buNone/>
            </a:pPr>
            <a:r>
              <a:rPr lang="en-US" dirty="0"/>
              <a:t>            </a:t>
            </a:r>
            <a:r>
              <a:rPr lang="en-US" dirty="0" err="1"/>
              <a:t>this.weight</a:t>
            </a:r>
            <a:r>
              <a:rPr lang="en-US" dirty="0"/>
              <a:t> = weight;</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List&lt;List&lt;Node&gt;&gt; </a:t>
            </a:r>
            <a:r>
              <a:rPr lang="en-US" dirty="0" err="1"/>
              <a:t>adj_list</a:t>
            </a:r>
            <a:r>
              <a:rPr lang="en-US" dirty="0"/>
              <a:t> = new </a:t>
            </a:r>
            <a:r>
              <a:rPr lang="en-US" dirty="0" err="1"/>
              <a:t>ArrayList</a:t>
            </a:r>
            <a:r>
              <a:rPr lang="en-US" dirty="0"/>
              <a:t>&lt;&gt;();</a:t>
            </a:r>
          </a:p>
          <a:p>
            <a:pPr marL="0" indent="0">
              <a:buNone/>
            </a:pPr>
            <a:r>
              <a:rPr lang="en-US" dirty="0"/>
              <a:t> </a:t>
            </a:r>
            <a:endParaRPr lang="ru-RU" dirty="0"/>
          </a:p>
        </p:txBody>
      </p:sp>
    </p:spTree>
    <p:extLst>
      <p:ext uri="{BB962C8B-B14F-4D97-AF65-F5344CB8AC3E}">
        <p14:creationId xmlns:p14="http://schemas.microsoft.com/office/powerpoint/2010/main" val="4201312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z="2800" dirty="0" smtClean="0"/>
              <a:t>At this point we created constructor of class Graph</a:t>
            </a:r>
            <a:br>
              <a:rPr lang="en-US" sz="2800" dirty="0" smtClean="0"/>
            </a:br>
            <a:r>
              <a:rPr lang="en-US" sz="2800" dirty="0" smtClean="0"/>
              <a:t>and adding edges to our graph</a:t>
            </a:r>
            <a:endParaRPr lang="ru-RU" sz="2800" dirty="0"/>
          </a:p>
        </p:txBody>
      </p:sp>
      <p:sp>
        <p:nvSpPr>
          <p:cNvPr id="3" name="Объект 2"/>
          <p:cNvSpPr>
            <a:spLocks noGrp="1"/>
          </p:cNvSpPr>
          <p:nvPr>
            <p:ph idx="1"/>
          </p:nvPr>
        </p:nvSpPr>
        <p:spPr/>
        <p:txBody>
          <a:bodyPr>
            <a:normAutofit fontScale="77500" lnSpcReduction="20000"/>
          </a:bodyPr>
          <a:lstStyle/>
          <a:p>
            <a:pPr marL="0" indent="0">
              <a:buNone/>
            </a:pPr>
            <a:r>
              <a:rPr lang="en-US" dirty="0"/>
              <a:t> public Graph(List&lt;Edge&gt; edges)</a:t>
            </a:r>
          </a:p>
          <a:p>
            <a:pPr marL="0" indent="0">
              <a:buNone/>
            </a:pPr>
            <a:r>
              <a:rPr lang="en-US" dirty="0"/>
              <a:t>    {</a:t>
            </a:r>
          </a:p>
          <a:p>
            <a:pPr marL="0" indent="0">
              <a:buNone/>
            </a:pPr>
            <a:r>
              <a:rPr lang="en-US" dirty="0"/>
              <a:t>        </a:t>
            </a:r>
          </a:p>
          <a:p>
            <a:pPr marL="0" indent="0">
              <a:buNone/>
            </a:pPr>
            <a:r>
              <a:rPr lang="en-US" dirty="0"/>
              <a:t>        for (</a:t>
            </a:r>
            <a:r>
              <a:rPr lang="en-US" dirty="0" err="1"/>
              <a:t>int</a:t>
            </a:r>
            <a:r>
              <a:rPr lang="en-US" dirty="0"/>
              <a:t> </a:t>
            </a:r>
            <a:r>
              <a:rPr lang="en-US" dirty="0" err="1"/>
              <a:t>i</a:t>
            </a:r>
            <a:r>
              <a:rPr lang="en-US" dirty="0"/>
              <a:t> = 0; </a:t>
            </a:r>
            <a:r>
              <a:rPr lang="en-US" dirty="0" err="1"/>
              <a:t>i</a:t>
            </a:r>
            <a:r>
              <a:rPr lang="en-US" dirty="0"/>
              <a:t> &lt; </a:t>
            </a:r>
            <a:r>
              <a:rPr lang="en-US" dirty="0" err="1"/>
              <a:t>edges.size</a:t>
            </a:r>
            <a:r>
              <a:rPr lang="en-US" dirty="0"/>
              <a:t>(); </a:t>
            </a:r>
            <a:r>
              <a:rPr lang="en-US" dirty="0" err="1"/>
              <a:t>i</a:t>
            </a:r>
            <a:r>
              <a:rPr lang="en-US" dirty="0"/>
              <a:t>++)</a:t>
            </a:r>
          </a:p>
          <a:p>
            <a:pPr marL="0" indent="0">
              <a:buNone/>
            </a:pPr>
            <a:r>
              <a:rPr lang="en-US" dirty="0"/>
              <a:t>            </a:t>
            </a:r>
            <a:r>
              <a:rPr lang="en-US" dirty="0" err="1"/>
              <a:t>adj_list.add</a:t>
            </a:r>
            <a:r>
              <a:rPr lang="en-US" dirty="0"/>
              <a:t>(</a:t>
            </a:r>
            <a:r>
              <a:rPr lang="en-US" dirty="0" err="1"/>
              <a:t>i</a:t>
            </a:r>
            <a:r>
              <a:rPr lang="en-US" dirty="0"/>
              <a:t>, new </a:t>
            </a:r>
            <a:r>
              <a:rPr lang="en-US" dirty="0" err="1"/>
              <a:t>ArrayList</a:t>
            </a:r>
            <a:r>
              <a:rPr lang="en-US" dirty="0"/>
              <a:t>&lt;&gt;());</a:t>
            </a:r>
          </a:p>
          <a:p>
            <a:pPr marL="0" indent="0">
              <a:buNone/>
            </a:pPr>
            <a:r>
              <a:rPr lang="en-US" dirty="0"/>
              <a:t> </a:t>
            </a:r>
          </a:p>
          <a:p>
            <a:pPr marL="0" indent="0">
              <a:buNone/>
            </a:pPr>
            <a:r>
              <a:rPr lang="en-US" dirty="0"/>
              <a:t>        </a:t>
            </a:r>
          </a:p>
          <a:p>
            <a:pPr marL="0" indent="0">
              <a:buNone/>
            </a:pPr>
            <a:r>
              <a:rPr lang="en-US" dirty="0"/>
              <a:t>        for (Edge e : edges)</a:t>
            </a:r>
          </a:p>
          <a:p>
            <a:pPr marL="0" indent="0">
              <a:buNone/>
            </a:pPr>
            <a:r>
              <a:rPr lang="en-US" dirty="0"/>
              <a:t>        {</a:t>
            </a:r>
          </a:p>
          <a:p>
            <a:pPr marL="0" indent="0">
              <a:buNone/>
            </a:pPr>
            <a:endParaRPr lang="en-US" dirty="0"/>
          </a:p>
          <a:p>
            <a:pPr marL="0" indent="0">
              <a:buNone/>
            </a:pPr>
            <a:r>
              <a:rPr lang="en-US" dirty="0"/>
              <a:t>            </a:t>
            </a:r>
            <a:r>
              <a:rPr lang="en-US" dirty="0" err="1"/>
              <a:t>adj_list.get</a:t>
            </a:r>
            <a:r>
              <a:rPr lang="en-US" dirty="0"/>
              <a:t>(</a:t>
            </a:r>
            <a:r>
              <a:rPr lang="en-US" dirty="0" err="1"/>
              <a:t>e.src</a:t>
            </a:r>
            <a:r>
              <a:rPr lang="en-US" dirty="0"/>
              <a:t>).add(new Node(</a:t>
            </a:r>
            <a:r>
              <a:rPr lang="en-US" dirty="0" err="1"/>
              <a:t>e.dest</a:t>
            </a:r>
            <a:r>
              <a:rPr lang="en-US" dirty="0"/>
              <a:t>, </a:t>
            </a:r>
            <a:r>
              <a:rPr lang="en-US" dirty="0" err="1"/>
              <a:t>e.weight</a:t>
            </a:r>
            <a:r>
              <a:rPr lang="en-US" dirty="0"/>
              <a:t>));</a:t>
            </a:r>
          </a:p>
          <a:p>
            <a:pPr marL="0" indent="0">
              <a:buNone/>
            </a:pPr>
            <a:r>
              <a:rPr lang="en-US" dirty="0"/>
              <a:t>        }</a:t>
            </a:r>
          </a:p>
          <a:p>
            <a:pPr marL="0" indent="0">
              <a:buNone/>
            </a:pPr>
            <a:r>
              <a:rPr lang="en-US" dirty="0"/>
              <a:t>    }</a:t>
            </a:r>
            <a:endParaRPr lang="ru-RU" dirty="0"/>
          </a:p>
        </p:txBody>
      </p:sp>
    </p:spTree>
    <p:extLst>
      <p:ext uri="{BB962C8B-B14F-4D97-AF65-F5344CB8AC3E}">
        <p14:creationId xmlns:p14="http://schemas.microsoft.com/office/powerpoint/2010/main" val="3906590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9101" y="452718"/>
            <a:ext cx="9631734" cy="588682"/>
          </a:xfrm>
        </p:spPr>
        <p:txBody>
          <a:bodyPr/>
          <a:lstStyle/>
          <a:p>
            <a:r>
              <a:rPr lang="en-US" sz="2800" dirty="0" smtClean="0"/>
              <a:t>We have method which printing our adjacency list</a:t>
            </a:r>
            <a:endParaRPr lang="ru-RU" sz="2800" dirty="0"/>
          </a:p>
        </p:txBody>
      </p:sp>
      <p:sp>
        <p:nvSpPr>
          <p:cNvPr id="3" name="Объект 2"/>
          <p:cNvSpPr>
            <a:spLocks noGrp="1"/>
          </p:cNvSpPr>
          <p:nvPr>
            <p:ph idx="1"/>
          </p:nvPr>
        </p:nvSpPr>
        <p:spPr>
          <a:xfrm>
            <a:off x="1104294" y="1041400"/>
            <a:ext cx="8946541" cy="4805082"/>
          </a:xfrm>
        </p:spPr>
        <p:txBody>
          <a:bodyPr>
            <a:noAutofit/>
          </a:bodyPr>
          <a:lstStyle/>
          <a:p>
            <a:pPr marL="0" indent="0">
              <a:buNone/>
            </a:pPr>
            <a:r>
              <a:rPr lang="en-US" sz="1000" dirty="0"/>
              <a:t>public static void </a:t>
            </a:r>
            <a:r>
              <a:rPr lang="en-US" sz="1000" dirty="0" err="1"/>
              <a:t>printGraph</a:t>
            </a:r>
            <a:r>
              <a:rPr lang="en-US" sz="1000" dirty="0"/>
              <a:t>(Graph graph)  {</a:t>
            </a:r>
          </a:p>
          <a:p>
            <a:pPr marL="0" indent="0">
              <a:buNone/>
            </a:pPr>
            <a:r>
              <a:rPr lang="en-US" sz="1000" dirty="0"/>
              <a:t>        </a:t>
            </a:r>
            <a:r>
              <a:rPr lang="en-US" sz="1000" dirty="0" err="1"/>
              <a:t>int</a:t>
            </a:r>
            <a:r>
              <a:rPr lang="en-US" sz="1000" dirty="0"/>
              <a:t> </a:t>
            </a:r>
            <a:r>
              <a:rPr lang="en-US" sz="1000" dirty="0" err="1"/>
              <a:t>src_vertex</a:t>
            </a:r>
            <a:r>
              <a:rPr lang="en-US" sz="1000" dirty="0"/>
              <a:t> = 0;</a:t>
            </a:r>
          </a:p>
          <a:p>
            <a:pPr marL="0" indent="0">
              <a:buNone/>
            </a:pPr>
            <a:r>
              <a:rPr lang="en-US" sz="1000" dirty="0"/>
              <a:t>        </a:t>
            </a:r>
            <a:r>
              <a:rPr lang="en-US" sz="1000" dirty="0" err="1"/>
              <a:t>int</a:t>
            </a:r>
            <a:r>
              <a:rPr lang="en-US" sz="1000" dirty="0"/>
              <a:t> </a:t>
            </a:r>
            <a:r>
              <a:rPr lang="en-US" sz="1000" dirty="0" err="1"/>
              <a:t>list_size</a:t>
            </a:r>
            <a:r>
              <a:rPr lang="en-US" sz="1000" dirty="0"/>
              <a:t> = </a:t>
            </a:r>
            <a:r>
              <a:rPr lang="en-US" sz="1000" dirty="0" err="1"/>
              <a:t>graph.adj_list.size</a:t>
            </a:r>
            <a:r>
              <a:rPr lang="en-US" sz="1000" dirty="0"/>
              <a:t>();</a:t>
            </a:r>
          </a:p>
          <a:p>
            <a:pPr marL="0" indent="0">
              <a:buNone/>
            </a:pPr>
            <a:r>
              <a:rPr lang="en-US" sz="1000" dirty="0"/>
              <a:t> </a:t>
            </a:r>
          </a:p>
          <a:p>
            <a:pPr marL="0" indent="0">
              <a:buNone/>
            </a:pPr>
            <a:r>
              <a:rPr lang="en-US" sz="1000" dirty="0"/>
              <a:t>        </a:t>
            </a:r>
            <a:r>
              <a:rPr lang="en-US" sz="1000" dirty="0" err="1"/>
              <a:t>System.out.println</a:t>
            </a:r>
            <a:r>
              <a:rPr lang="en-US" sz="1000" dirty="0"/>
              <a:t>("The contents of the graph:");</a:t>
            </a:r>
          </a:p>
          <a:p>
            <a:pPr marL="0" indent="0">
              <a:buNone/>
            </a:pPr>
            <a:r>
              <a:rPr lang="en-US" sz="1000" dirty="0"/>
              <a:t>        while (</a:t>
            </a:r>
            <a:r>
              <a:rPr lang="en-US" sz="1000" dirty="0" err="1"/>
              <a:t>src_vertex</a:t>
            </a:r>
            <a:r>
              <a:rPr lang="en-US" sz="1000" dirty="0"/>
              <a:t> &lt; </a:t>
            </a:r>
            <a:r>
              <a:rPr lang="en-US" sz="1000" dirty="0" err="1"/>
              <a:t>list_size</a:t>
            </a:r>
            <a:r>
              <a:rPr lang="en-US" sz="1000" dirty="0"/>
              <a:t>) {</a:t>
            </a:r>
          </a:p>
          <a:p>
            <a:pPr marL="0" indent="0">
              <a:buNone/>
            </a:pPr>
            <a:r>
              <a:rPr lang="en-US" sz="1000" dirty="0"/>
              <a:t>            </a:t>
            </a:r>
          </a:p>
          <a:p>
            <a:pPr marL="0" indent="0">
              <a:buNone/>
            </a:pPr>
            <a:r>
              <a:rPr lang="en-US" sz="1000" dirty="0"/>
              <a:t>            for (Node edge : </a:t>
            </a:r>
            <a:r>
              <a:rPr lang="en-US" sz="1000" dirty="0" err="1"/>
              <a:t>graph.adj_list.get</a:t>
            </a:r>
            <a:r>
              <a:rPr lang="en-US" sz="1000" dirty="0"/>
              <a:t>(</a:t>
            </a:r>
            <a:r>
              <a:rPr lang="en-US" sz="1000" dirty="0" err="1"/>
              <a:t>src_vertex</a:t>
            </a:r>
            <a:r>
              <a:rPr lang="en-US" sz="1000" dirty="0"/>
              <a:t>)) {</a:t>
            </a:r>
          </a:p>
          <a:p>
            <a:pPr marL="0" indent="0">
              <a:buNone/>
            </a:pPr>
            <a:r>
              <a:rPr lang="en-US" sz="1000" dirty="0"/>
              <a:t>                </a:t>
            </a:r>
            <a:r>
              <a:rPr lang="en-US" sz="1000" dirty="0" err="1"/>
              <a:t>System.out.print</a:t>
            </a:r>
            <a:r>
              <a:rPr lang="en-US" sz="1000" dirty="0"/>
              <a:t>("Vertex:" + </a:t>
            </a:r>
            <a:r>
              <a:rPr lang="en-US" sz="1000" dirty="0" err="1"/>
              <a:t>src_vertex</a:t>
            </a:r>
            <a:r>
              <a:rPr lang="en-US" sz="1000" dirty="0"/>
              <a:t> + " ==&gt; " + </a:t>
            </a:r>
            <a:r>
              <a:rPr lang="en-US" sz="1000" dirty="0" err="1"/>
              <a:t>edge.value</a:t>
            </a:r>
            <a:r>
              <a:rPr lang="en-US" sz="1000" dirty="0"/>
              <a:t> + </a:t>
            </a:r>
          </a:p>
          <a:p>
            <a:pPr marL="0" indent="0">
              <a:buNone/>
            </a:pPr>
            <a:r>
              <a:rPr lang="en-US" sz="1000" dirty="0"/>
              <a:t>                                " (" + </a:t>
            </a:r>
            <a:r>
              <a:rPr lang="en-US" sz="1000" dirty="0" err="1"/>
              <a:t>edge.weight</a:t>
            </a:r>
            <a:r>
              <a:rPr lang="en-US" sz="1000" dirty="0"/>
              <a:t> + ")\t");</a:t>
            </a:r>
          </a:p>
          <a:p>
            <a:pPr marL="0" indent="0">
              <a:buNone/>
            </a:pPr>
            <a:r>
              <a:rPr lang="en-US" sz="1000" dirty="0"/>
              <a:t>            }</a:t>
            </a:r>
          </a:p>
          <a:p>
            <a:pPr marL="0" indent="0">
              <a:buNone/>
            </a:pPr>
            <a:r>
              <a:rPr lang="en-US" sz="1000" dirty="0"/>
              <a:t> </a:t>
            </a:r>
          </a:p>
          <a:p>
            <a:pPr marL="0" indent="0">
              <a:buNone/>
            </a:pPr>
            <a:r>
              <a:rPr lang="en-US" sz="1000" dirty="0"/>
              <a:t>            </a:t>
            </a:r>
            <a:r>
              <a:rPr lang="en-US" sz="1000" dirty="0" err="1"/>
              <a:t>System.out.println</a:t>
            </a:r>
            <a:r>
              <a:rPr lang="en-US" sz="1000" dirty="0"/>
              <a:t>();</a:t>
            </a:r>
          </a:p>
          <a:p>
            <a:pPr marL="0" indent="0">
              <a:buNone/>
            </a:pPr>
            <a:r>
              <a:rPr lang="en-US" sz="1000" dirty="0"/>
              <a:t>            </a:t>
            </a:r>
            <a:r>
              <a:rPr lang="en-US" sz="1000" dirty="0" err="1"/>
              <a:t>src_vertex</a:t>
            </a:r>
            <a:r>
              <a:rPr lang="en-US" sz="1000" dirty="0"/>
              <a:t>++;</a:t>
            </a:r>
          </a:p>
          <a:p>
            <a:pPr marL="0" indent="0">
              <a:buNone/>
            </a:pPr>
            <a:r>
              <a:rPr lang="en-US" sz="1000" dirty="0"/>
              <a:t>        }</a:t>
            </a:r>
          </a:p>
          <a:p>
            <a:pPr marL="0" indent="0">
              <a:buNone/>
            </a:pPr>
            <a:r>
              <a:rPr lang="en-US" sz="1000" dirty="0"/>
              <a:t>    }</a:t>
            </a:r>
          </a:p>
          <a:p>
            <a:pPr marL="0" indent="0">
              <a:buNone/>
            </a:pPr>
            <a:r>
              <a:rPr lang="en-US" sz="1000" dirty="0"/>
              <a:t>}</a:t>
            </a:r>
            <a:endParaRPr lang="ru-RU" sz="1000" dirty="0"/>
          </a:p>
        </p:txBody>
      </p:sp>
    </p:spTree>
    <p:extLst>
      <p:ext uri="{BB962C8B-B14F-4D97-AF65-F5344CB8AC3E}">
        <p14:creationId xmlns:p14="http://schemas.microsoft.com/office/powerpoint/2010/main" val="719084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z="2800" dirty="0" smtClean="0"/>
              <a:t>In our main method we defining edges of our graph and after that calling constructor to construct a graph and after that printing as adjacency list.</a:t>
            </a:r>
            <a:endParaRPr lang="ru-RU" sz="2800" dirty="0"/>
          </a:p>
        </p:txBody>
      </p:sp>
      <p:sp>
        <p:nvSpPr>
          <p:cNvPr id="3" name="Объект 2"/>
          <p:cNvSpPr>
            <a:spLocks noGrp="1"/>
          </p:cNvSpPr>
          <p:nvPr>
            <p:ph idx="1"/>
          </p:nvPr>
        </p:nvSpPr>
        <p:spPr/>
        <p:txBody>
          <a:bodyPr>
            <a:normAutofit fontScale="70000" lnSpcReduction="20000"/>
          </a:bodyPr>
          <a:lstStyle/>
          <a:p>
            <a:pPr marL="0" indent="0">
              <a:buNone/>
            </a:pPr>
            <a:r>
              <a:rPr lang="en-US" dirty="0"/>
              <a:t>public class </a:t>
            </a:r>
            <a:r>
              <a:rPr lang="en-US" dirty="0" smtClean="0"/>
              <a:t>Lists{</a:t>
            </a:r>
            <a:endParaRPr lang="en-US" dirty="0"/>
          </a:p>
          <a:p>
            <a:pPr marL="0" indent="0">
              <a:buNone/>
            </a:pPr>
            <a:r>
              <a:rPr lang="en-US" dirty="0"/>
              <a:t>    public static void main (String[] </a:t>
            </a:r>
            <a:r>
              <a:rPr lang="en-US" dirty="0" err="1"/>
              <a:t>args</a:t>
            </a:r>
            <a:r>
              <a:rPr lang="en-US" dirty="0"/>
              <a:t>) {</a:t>
            </a:r>
          </a:p>
          <a:p>
            <a:pPr marL="0" indent="0">
              <a:buNone/>
            </a:pPr>
            <a:r>
              <a:rPr lang="en-US" dirty="0"/>
              <a:t>        </a:t>
            </a:r>
          </a:p>
          <a:p>
            <a:pPr marL="0" indent="0">
              <a:buNone/>
            </a:pPr>
            <a:r>
              <a:rPr lang="en-US" dirty="0"/>
              <a:t>        List&lt;Edge&gt; edges = </a:t>
            </a:r>
            <a:r>
              <a:rPr lang="en-US" dirty="0" err="1"/>
              <a:t>Arrays.asList</a:t>
            </a:r>
            <a:r>
              <a:rPr lang="en-US" dirty="0"/>
              <a:t>(new Edge(1, 4, 2),new Edge(4, 2, 4),</a:t>
            </a:r>
          </a:p>
          <a:p>
            <a:pPr marL="0" indent="0">
              <a:buNone/>
            </a:pPr>
            <a:r>
              <a:rPr lang="en-US" dirty="0"/>
              <a:t>                   new Edge(2, 5, 4),new Edge(3, 5, 5), new Edge(3, 1, 4),</a:t>
            </a:r>
          </a:p>
          <a:p>
            <a:pPr marL="0" indent="0">
              <a:buNone/>
            </a:pPr>
            <a:r>
              <a:rPr lang="en-US" dirty="0"/>
              <a:t>                   new Edge(3, 4, 3));</a:t>
            </a:r>
          </a:p>
          <a:p>
            <a:pPr marL="0" indent="0">
              <a:buNone/>
            </a:pPr>
            <a:r>
              <a:rPr lang="en-US" dirty="0"/>
              <a:t> </a:t>
            </a:r>
          </a:p>
          <a:p>
            <a:pPr marL="0" indent="0">
              <a:buNone/>
            </a:pPr>
            <a:r>
              <a:rPr lang="en-US" dirty="0"/>
              <a:t>        </a:t>
            </a:r>
          </a:p>
          <a:p>
            <a:pPr marL="0" indent="0">
              <a:buNone/>
            </a:pPr>
            <a:r>
              <a:rPr lang="en-US" dirty="0"/>
              <a:t>        Graph </a:t>
            </a:r>
            <a:r>
              <a:rPr lang="en-US" dirty="0" err="1"/>
              <a:t>graph</a:t>
            </a:r>
            <a:r>
              <a:rPr lang="en-US" dirty="0"/>
              <a:t> = new Graph(edges);</a:t>
            </a:r>
          </a:p>
          <a:p>
            <a:pPr marL="0" indent="0">
              <a:buNone/>
            </a:pPr>
            <a:r>
              <a:rPr lang="en-US" dirty="0"/>
              <a:t> </a:t>
            </a:r>
          </a:p>
          <a:p>
            <a:pPr marL="0" indent="0">
              <a:buNone/>
            </a:pPr>
            <a:r>
              <a:rPr lang="en-US" dirty="0"/>
              <a:t>        </a:t>
            </a:r>
          </a:p>
          <a:p>
            <a:pPr marL="0" indent="0">
              <a:buNone/>
            </a:pPr>
            <a:r>
              <a:rPr lang="en-US" dirty="0"/>
              <a:t>        </a:t>
            </a:r>
            <a:r>
              <a:rPr lang="en-US" dirty="0" err="1"/>
              <a:t>Graph.printGraph</a:t>
            </a:r>
            <a:r>
              <a:rPr lang="en-US" dirty="0"/>
              <a:t>(graph);</a:t>
            </a:r>
          </a:p>
          <a:p>
            <a:pPr marL="0" indent="0">
              <a:buNone/>
            </a:pPr>
            <a:r>
              <a:rPr lang="en-US" dirty="0"/>
              <a:t>    }</a:t>
            </a:r>
          </a:p>
          <a:p>
            <a:pPr marL="0" indent="0">
              <a:buNone/>
            </a:pPr>
            <a:r>
              <a:rPr lang="en-US" dirty="0"/>
              <a:t>}</a:t>
            </a:r>
            <a:endParaRPr lang="ru-RU" dirty="0"/>
          </a:p>
        </p:txBody>
      </p:sp>
    </p:spTree>
    <p:extLst>
      <p:ext uri="{BB962C8B-B14F-4D97-AF65-F5344CB8AC3E}">
        <p14:creationId xmlns:p14="http://schemas.microsoft.com/office/powerpoint/2010/main" val="3574573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								Answer</a:t>
            </a:r>
            <a:endParaRPr lang="ru-RU" dirty="0"/>
          </a:p>
        </p:txBody>
      </p:sp>
      <p:sp>
        <p:nvSpPr>
          <p:cNvPr id="3" name="Объект 2"/>
          <p:cNvSpPr>
            <a:spLocks noGrp="1"/>
          </p:cNvSpPr>
          <p:nvPr>
            <p:ph idx="1"/>
          </p:nvPr>
        </p:nvSpPr>
        <p:spPr/>
        <p:txBody>
          <a:bodyPr>
            <a:normAutofit/>
          </a:bodyPr>
          <a:lstStyle/>
          <a:p>
            <a:pPr marL="0" indent="0">
              <a:buNone/>
            </a:pPr>
            <a:r>
              <a:rPr lang="en-US" dirty="0" smtClean="0"/>
              <a:t>The result of this edges </a:t>
            </a:r>
          </a:p>
          <a:p>
            <a:pPr marL="0" indent="0">
              <a:buNone/>
            </a:pPr>
            <a:r>
              <a:rPr lang="en-US" dirty="0"/>
              <a:t>List&lt;Edge&gt; edges = </a:t>
            </a:r>
            <a:r>
              <a:rPr lang="en-US" dirty="0" err="1"/>
              <a:t>Arrays.asList</a:t>
            </a:r>
            <a:r>
              <a:rPr lang="en-US" dirty="0"/>
              <a:t>(new Edge(0, 1, 2),new Edge(0, 2, 4), new Edge(1, 2, 4),new Edge(2, 0, 5), new Edge(2, 1, 4), new Edge(3, 2, 3), new Edge(4, 5, 1),new Edge(5, 4, 3));</a:t>
            </a:r>
            <a:endParaRPr lang="en-US" dirty="0" smtClean="0"/>
          </a:p>
          <a:p>
            <a:pPr marL="0" indent="0">
              <a:buNone/>
            </a:pPr>
            <a:endParaRPr lang="en-US" dirty="0" smtClean="0"/>
          </a:p>
          <a:p>
            <a:pPr marL="0" indent="0">
              <a:buNone/>
            </a:pPr>
            <a:r>
              <a:rPr lang="en-US" dirty="0" smtClean="0"/>
              <a:t>Should be </a:t>
            </a:r>
          </a:p>
          <a:p>
            <a:pPr marL="0" indent="0">
              <a:buNone/>
            </a:pPr>
            <a:r>
              <a:rPr lang="en-US" dirty="0"/>
              <a:t>Vertex:1 ==&gt; 4 (2) </a:t>
            </a:r>
            <a:endParaRPr lang="en-US" dirty="0" smtClean="0"/>
          </a:p>
          <a:p>
            <a:pPr marL="0" indent="0">
              <a:buNone/>
            </a:pPr>
            <a:r>
              <a:rPr lang="en-US" dirty="0" smtClean="0"/>
              <a:t>Vertex:2 </a:t>
            </a:r>
            <a:r>
              <a:rPr lang="en-US" dirty="0"/>
              <a:t>==&gt; 5 (4</a:t>
            </a:r>
            <a:r>
              <a:rPr lang="en-US" dirty="0" smtClean="0"/>
              <a:t>)</a:t>
            </a:r>
          </a:p>
          <a:p>
            <a:pPr marL="0" indent="0">
              <a:buNone/>
            </a:pPr>
            <a:r>
              <a:rPr lang="en-US" dirty="0" smtClean="0"/>
              <a:t>Vertex:3 </a:t>
            </a:r>
            <a:r>
              <a:rPr lang="en-US" dirty="0"/>
              <a:t>==&gt; 5 (5)	Vertex:3 ==&gt; 1 (4)	Vertex:3 ==&gt; 4 (3) </a:t>
            </a:r>
            <a:endParaRPr lang="en-US" dirty="0" smtClean="0"/>
          </a:p>
          <a:p>
            <a:pPr marL="0" indent="0">
              <a:buNone/>
            </a:pPr>
            <a:r>
              <a:rPr lang="en-US" dirty="0" smtClean="0"/>
              <a:t>Vertex:4 </a:t>
            </a:r>
            <a:r>
              <a:rPr lang="en-US" dirty="0"/>
              <a:t>==&gt; 2 (4)</a:t>
            </a:r>
            <a:endParaRPr lang="en-US" dirty="0" smtClean="0"/>
          </a:p>
          <a:p>
            <a:pPr marL="0" indent="0">
              <a:buNone/>
            </a:pPr>
            <a:endParaRPr lang="ru-RU" dirty="0"/>
          </a:p>
        </p:txBody>
      </p:sp>
    </p:spTree>
    <p:extLst>
      <p:ext uri="{BB962C8B-B14F-4D97-AF65-F5344CB8AC3E}">
        <p14:creationId xmlns:p14="http://schemas.microsoft.com/office/powerpoint/2010/main" val="16863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a:t>
            </a:r>
            <a:r>
              <a:rPr lang="en-US" dirty="0" smtClean="0"/>
              <a:t>				Usage </a:t>
            </a:r>
            <a:r>
              <a:rPr lang="en-US" dirty="0"/>
              <a:t>of directed graph</a:t>
            </a:r>
            <a:endParaRPr lang="ru-RU" dirty="0"/>
          </a:p>
        </p:txBody>
      </p:sp>
      <p:sp>
        <p:nvSpPr>
          <p:cNvPr id="3" name="Объект 2"/>
          <p:cNvSpPr>
            <a:spLocks noGrp="1"/>
          </p:cNvSpPr>
          <p:nvPr>
            <p:ph idx="1"/>
          </p:nvPr>
        </p:nvSpPr>
        <p:spPr/>
        <p:txBody>
          <a:bodyPr/>
          <a:lstStyle/>
          <a:p>
            <a:r>
              <a:rPr lang="en-US" dirty="0"/>
              <a:t>This type of graph is also typical for the modeling of certain kinds of real-world structures. The most common directed graph is probably the genealogical or phylogenetic tree, which maps the relationship between offsprings and their parents.</a:t>
            </a:r>
          </a:p>
          <a:p>
            <a:endParaRPr lang="en-US" dirty="0"/>
          </a:p>
          <a:p>
            <a:r>
              <a:rPr lang="en-US" dirty="0"/>
              <a:t>In a family tree, each vertex can at the same time be a parent and an offspring in different relationships, but not simultaneously in the same one</a:t>
            </a:r>
            <a:r>
              <a:rPr lang="en-US" dirty="0" smtClean="0"/>
              <a:t>.</a:t>
            </a:r>
          </a:p>
          <a:p>
            <a:r>
              <a:rPr lang="en-US" dirty="0"/>
              <a:t>It wouldn’t make sense for an individual to simultaneously be the parent and the child of another individual. As a consequence, the graph which represents family trees must necessarily be a directed graph.</a:t>
            </a:r>
            <a:endParaRPr lang="ru-RU" dirty="0"/>
          </a:p>
        </p:txBody>
      </p:sp>
    </p:spTree>
    <p:extLst>
      <p:ext uri="{BB962C8B-B14F-4D97-AF65-F5344CB8AC3E}">
        <p14:creationId xmlns:p14="http://schemas.microsoft.com/office/powerpoint/2010/main" val="676398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en-US" dirty="0" smtClean="0"/>
              <a:t>           Usage </a:t>
            </a:r>
            <a:r>
              <a:rPr lang="en-US" dirty="0"/>
              <a:t>of directed graph</a:t>
            </a:r>
            <a:endParaRPr lang="ru-RU" dirty="0"/>
          </a:p>
        </p:txBody>
      </p:sp>
      <p:sp>
        <p:nvSpPr>
          <p:cNvPr id="3" name="Объект 2"/>
          <p:cNvSpPr>
            <a:spLocks noGrp="1"/>
          </p:cNvSpPr>
          <p:nvPr>
            <p:ph idx="1"/>
          </p:nvPr>
        </p:nvSpPr>
        <p:spPr>
          <a:xfrm>
            <a:off x="1291998" y="2317705"/>
            <a:ext cx="10174288" cy="2660695"/>
          </a:xfrm>
        </p:spPr>
        <p:txBody>
          <a:bodyPr/>
          <a:lstStyle/>
          <a:p>
            <a:pPr marL="0" indent="0">
              <a:buNone/>
            </a:pPr>
            <a:r>
              <a:rPr lang="en-US" dirty="0" smtClean="0"/>
              <a:t>Graphs are used to solve many real-life problems. Graphs are used to represent networks. The networks may include paths in a city or telephone network or circuit network. Graphs are also used in social networks like LinkedIn, Facebook. For example, in Facebook, each person is represented with a vertex(or node). Each node is a structure and contains information like person id, name, gender, locale etc.</a:t>
            </a:r>
            <a:endParaRPr lang="ru-RU" dirty="0"/>
          </a:p>
        </p:txBody>
      </p:sp>
    </p:spTree>
    <p:extLst>
      <p:ext uri="{BB962C8B-B14F-4D97-AF65-F5344CB8AC3E}">
        <p14:creationId xmlns:p14="http://schemas.microsoft.com/office/powerpoint/2010/main" val="96231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p:txBody>
          <a:bodyPr/>
          <a:lstStyle/>
          <a:p>
            <a:r>
              <a:rPr lang="en-US" dirty="0" smtClean="0"/>
              <a:t>          Usage </a:t>
            </a:r>
            <a:r>
              <a:rPr lang="en-US" dirty="0"/>
              <a:t>of directed graph</a:t>
            </a:r>
            <a:endParaRPr lang="ru-RU" dirty="0"/>
          </a:p>
        </p:txBody>
      </p:sp>
      <p:sp>
        <p:nvSpPr>
          <p:cNvPr id="3" name="Объект 2"/>
          <p:cNvSpPr>
            <a:spLocks noGrp="1"/>
          </p:cNvSpPr>
          <p:nvPr>
            <p:ph idx="1"/>
          </p:nvPr>
        </p:nvSpPr>
        <p:spPr>
          <a:xfrm>
            <a:off x="1103312" y="1320800"/>
            <a:ext cx="10014631" cy="4927599"/>
          </a:xfrm>
        </p:spPr>
        <p:txBody>
          <a:bodyPr>
            <a:normAutofit fontScale="85000" lnSpcReduction="10000"/>
          </a:bodyPr>
          <a:lstStyle/>
          <a:p>
            <a:endParaRPr lang="en-US" dirty="0" smtClean="0"/>
          </a:p>
          <a:p>
            <a:r>
              <a:rPr lang="en-US" dirty="0" smtClean="0"/>
              <a:t>Recalling that a directed graph is a graph where the edges have an associated direction with them.</a:t>
            </a:r>
          </a:p>
          <a:p>
            <a:endParaRPr lang="en-US" dirty="0" smtClean="0"/>
          </a:p>
          <a:p>
            <a:r>
              <a:rPr lang="en-US" dirty="0" smtClean="0"/>
              <a:t>Using a directed graph you can represent asymmetrical relationships between nodes, while in undirected graph we can represent only symmetrical relationships.</a:t>
            </a:r>
          </a:p>
          <a:p>
            <a:endParaRPr lang="en-US" dirty="0" smtClean="0"/>
          </a:p>
          <a:p>
            <a:r>
              <a:rPr lang="en-US" dirty="0" smtClean="0"/>
              <a:t>Practically, using a directed graph you can represent:</a:t>
            </a:r>
          </a:p>
          <a:p>
            <a:endParaRPr lang="en-US" dirty="0" smtClean="0"/>
          </a:p>
          <a:p>
            <a:r>
              <a:rPr lang="en-US" dirty="0" smtClean="0"/>
              <a:t>Road networks (using a directed graph you can represent streets' direction);</a:t>
            </a:r>
          </a:p>
          <a:p>
            <a:r>
              <a:rPr lang="en-US" dirty="0" smtClean="0"/>
              <a:t>hyperlinks connecting web pages;</a:t>
            </a:r>
          </a:p>
          <a:p>
            <a:r>
              <a:rPr lang="en-US" dirty="0" smtClean="0"/>
              <a:t>dependencies in software modules;</a:t>
            </a:r>
          </a:p>
          <a:p>
            <a:r>
              <a:rPr lang="en-US" dirty="0" smtClean="0"/>
              <a:t>prey-predator relationships;</a:t>
            </a:r>
          </a:p>
          <a:p>
            <a:r>
              <a:rPr lang="en-US" dirty="0" smtClean="0"/>
              <a:t>deterministic finite automaton.</a:t>
            </a:r>
            <a:endParaRPr lang="ru-RU" dirty="0"/>
          </a:p>
        </p:txBody>
      </p:sp>
    </p:spTree>
    <p:extLst>
      <p:ext uri="{BB962C8B-B14F-4D97-AF65-F5344CB8AC3E}">
        <p14:creationId xmlns:p14="http://schemas.microsoft.com/office/powerpoint/2010/main" val="37304672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он">
  <a:themeElements>
    <a:clrScheme name="Ио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Ион">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Ио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164</TotalTime>
  <Words>1374</Words>
  <Application>Microsoft Office PowerPoint</Application>
  <PresentationFormat>Широкоэкранный</PresentationFormat>
  <Paragraphs>483</Paragraphs>
  <Slides>22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22</vt:i4>
      </vt:variant>
    </vt:vector>
  </HeadingPairs>
  <TitlesOfParts>
    <vt:vector size="26" baseType="lpstr">
      <vt:lpstr>Arial</vt:lpstr>
      <vt:lpstr>Century Gothic</vt:lpstr>
      <vt:lpstr>Wingdings 3</vt:lpstr>
      <vt:lpstr>Ион</vt:lpstr>
      <vt:lpstr>DIRECTED GRAPH</vt:lpstr>
      <vt:lpstr>Digraphs.  </vt:lpstr>
      <vt:lpstr> We implement the following digraph API.</vt:lpstr>
      <vt:lpstr>Implementation of directed graph using java</vt:lpstr>
      <vt:lpstr>      Adjacency Matrix</vt:lpstr>
      <vt:lpstr>      Adjacency List</vt:lpstr>
      <vt:lpstr>Adjacency-matrix</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Implementing Digraph       using Adjacency-list </vt:lpstr>
      <vt:lpstr>Here we have our Graph class and static Node class with defining adjacency list</vt:lpstr>
      <vt:lpstr>At this point we created constructor of class Graph and adding edges to our graph</vt:lpstr>
      <vt:lpstr>We have method which printing our adjacency list</vt:lpstr>
      <vt:lpstr>In our main method we defining edges of our graph and after that calling constructor to construct a graph and after that printing as adjacency list.</vt:lpstr>
      <vt:lpstr>        Answer</vt:lpstr>
      <vt:lpstr>     Usage of directed graph</vt:lpstr>
      <vt:lpstr>           Usage of directed graph</vt:lpstr>
      <vt:lpstr>          Usage of directed graph</vt:lpstr>
    </vt:vector>
  </TitlesOfParts>
  <Company>SPecialiST RePack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DIRECTED GRAPH</dc:title>
  <dc:creator>Учетная запись Майкрософт</dc:creator>
  <cp:lastModifiedBy>Учетная запись Майкрософт</cp:lastModifiedBy>
  <cp:revision>16</cp:revision>
  <dcterms:created xsi:type="dcterms:W3CDTF">2021-03-20T08:40:55Z</dcterms:created>
  <dcterms:modified xsi:type="dcterms:W3CDTF">2021-03-21T09:05:05Z</dcterms:modified>
</cp:coreProperties>
</file>