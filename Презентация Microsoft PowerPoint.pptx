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69" r:id="rId5"/>
    <p:sldId id="270" r:id="rId6"/>
    <p:sldId id="271" r:id="rId7"/>
    <p:sldId id="259" r:id="rId8"/>
    <p:sldId id="260" r:id="rId9"/>
    <p:sldId id="261" r:id="rId10"/>
    <p:sldId id="262" r:id="rId11"/>
    <p:sldId id="263" r:id="rId12"/>
    <p:sldId id="264" r:id="rId13"/>
    <p:sldId id="265" r:id="rId14"/>
    <p:sldId id="272" r:id="rId15"/>
    <p:sldId id="273" r:id="rId16"/>
    <p:sldId id="274" r:id="rId17"/>
    <p:sldId id="275" r:id="rId18"/>
    <p:sldId id="276" r:id="rId19"/>
    <p:sldId id="277" r:id="rId20"/>
    <p:sldId id="268" r:id="rId21"/>
    <p:sldId id="266" r:id="rId22"/>
    <p:sldId id="267" r:id="rId23"/>
    <p:sldId id="278" r:id="rId24"/>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71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ru-RU" smtClean="0"/>
              <a:t>Образец заголовка</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ru-RU" smtClean="0"/>
              <a:t>Образец подзаголовка</a:t>
            </a:r>
            <a:endParaRPr lang="en-US" dirty="0"/>
          </a:p>
        </p:txBody>
      </p:sp>
      <p:sp>
        <p:nvSpPr>
          <p:cNvPr id="4" name="Date Placeholder 3"/>
          <p:cNvSpPr>
            <a:spLocks noGrp="1"/>
          </p:cNvSpPr>
          <p:nvPr>
            <p:ph type="dt" sz="half" idx="10"/>
          </p:nvPr>
        </p:nvSpPr>
        <p:spPr/>
        <p:txBody>
          <a:bodyPr/>
          <a:lstStyle/>
          <a:p>
            <a:fld id="{02F3607F-51DF-4189-ACB5-78961BD233FD}" type="datetimeFigureOut">
              <a:rPr lang="ru-RU" smtClean="0"/>
              <a:t>21.03.2021</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8990597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smtClean="0"/>
              <a:t>Образец заголовка</a:t>
            </a:r>
            <a:endParaRPr lang="en-US" dirty="0"/>
          </a:p>
        </p:txBody>
      </p:sp>
      <p:sp>
        <p:nvSpPr>
          <p:cNvPr id="3" name="Content Placeholder 2"/>
          <p:cNvSpPr>
            <a:spLocks noGrp="1"/>
          </p:cNvSpPr>
          <p:nvPr>
            <p:ph idx="1"/>
          </p:nvPr>
        </p:nvSpPr>
        <p:spPr/>
        <p:txBody>
          <a:body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en-US" dirty="0"/>
          </a:p>
        </p:txBody>
      </p:sp>
      <p:sp>
        <p:nvSpPr>
          <p:cNvPr id="7" name="Date Placeholder 3"/>
          <p:cNvSpPr>
            <a:spLocks noGrp="1"/>
          </p:cNvSpPr>
          <p:nvPr>
            <p:ph type="dt" sz="half" idx="10"/>
          </p:nvPr>
        </p:nvSpPr>
        <p:spPr/>
        <p:txBody>
          <a:bodyPr/>
          <a:lstStyle/>
          <a:p>
            <a:fld id="{02F3607F-51DF-4189-ACB5-78961BD233FD}" type="datetimeFigureOut">
              <a:rPr lang="ru-RU" smtClean="0"/>
              <a:t>21.03.2021</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35842859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ru-RU" smtClean="0"/>
              <a:t>Образец заголовка</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ru-RU" smtClean="0"/>
              <a:t>Образец текста</a:t>
            </a:r>
          </a:p>
        </p:txBody>
      </p:sp>
      <p:sp>
        <p:nvSpPr>
          <p:cNvPr id="4" name="Date Placeholder 3"/>
          <p:cNvSpPr>
            <a:spLocks noGrp="1"/>
          </p:cNvSpPr>
          <p:nvPr>
            <p:ph type="dt" sz="half" idx="10"/>
          </p:nvPr>
        </p:nvSpPr>
        <p:spPr/>
        <p:txBody>
          <a:bodyPr/>
          <a:lstStyle/>
          <a:p>
            <a:fld id="{02F3607F-51DF-4189-ACB5-78961BD233FD}" type="datetimeFigureOut">
              <a:rPr lang="ru-RU" smtClean="0"/>
              <a:t>21.03.2021</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12010675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smtClean="0"/>
              <a:t>Образец заголовка</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en-US" dirty="0"/>
          </a:p>
        </p:txBody>
      </p:sp>
      <p:sp>
        <p:nvSpPr>
          <p:cNvPr id="5" name="Date Placeholder 4"/>
          <p:cNvSpPr>
            <a:spLocks noGrp="1"/>
          </p:cNvSpPr>
          <p:nvPr>
            <p:ph type="dt" sz="half" idx="10"/>
          </p:nvPr>
        </p:nvSpPr>
        <p:spPr/>
        <p:txBody>
          <a:bodyPr/>
          <a:lstStyle/>
          <a:p>
            <a:fld id="{02F3607F-51DF-4189-ACB5-78961BD233FD}" type="datetimeFigureOut">
              <a:rPr lang="ru-RU" smtClean="0"/>
              <a:t>21.03.2021</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32514336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ru-RU" smtClean="0"/>
              <a:t>Образец заголовка</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smtClean="0"/>
              <a:t>Образец текста</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smtClean="0"/>
              <a:t>Образец текста</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en-US" dirty="0"/>
          </a:p>
        </p:txBody>
      </p:sp>
      <p:sp>
        <p:nvSpPr>
          <p:cNvPr id="7" name="Date Placeholder 6"/>
          <p:cNvSpPr>
            <a:spLocks noGrp="1"/>
          </p:cNvSpPr>
          <p:nvPr>
            <p:ph type="dt" sz="half" idx="10"/>
          </p:nvPr>
        </p:nvSpPr>
        <p:spPr/>
        <p:txBody>
          <a:bodyPr/>
          <a:lstStyle/>
          <a:p>
            <a:fld id="{02F3607F-51DF-4189-ACB5-78961BD233FD}" type="datetimeFigureOut">
              <a:rPr lang="ru-RU" smtClean="0"/>
              <a:t>21.03.2021</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20576165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smtClean="0"/>
              <a:t>Образец заголовка</a:t>
            </a:r>
            <a:endParaRPr lang="en-US" dirty="0"/>
          </a:p>
        </p:txBody>
      </p:sp>
      <p:sp>
        <p:nvSpPr>
          <p:cNvPr id="7" name="Date Placeholder 2"/>
          <p:cNvSpPr>
            <a:spLocks noGrp="1"/>
          </p:cNvSpPr>
          <p:nvPr>
            <p:ph type="dt" sz="half" idx="10"/>
          </p:nvPr>
        </p:nvSpPr>
        <p:spPr/>
        <p:txBody>
          <a:bodyPr/>
          <a:lstStyle/>
          <a:p>
            <a:fld id="{02F3607F-51DF-4189-ACB5-78961BD233FD}" type="datetimeFigureOut">
              <a:rPr lang="ru-RU" smtClean="0"/>
              <a:t>21.03.2021</a:t>
            </a:fld>
            <a:endParaRPr lang="ru-RU"/>
          </a:p>
        </p:txBody>
      </p:sp>
      <p:sp>
        <p:nvSpPr>
          <p:cNvPr id="5" name="Footer Placeholder 3"/>
          <p:cNvSpPr>
            <a:spLocks noGrp="1"/>
          </p:cNvSpPr>
          <p:nvPr>
            <p:ph type="ftr" sz="quarter" idx="11"/>
          </p:nvPr>
        </p:nvSpPr>
        <p:spPr/>
        <p:txBody>
          <a:bodyPr/>
          <a:lstStyle/>
          <a:p>
            <a:endParaRPr lang="ru-RU"/>
          </a:p>
        </p:txBody>
      </p:sp>
      <p:sp>
        <p:nvSpPr>
          <p:cNvPr id="6" name="Slide Number Placeholder 4"/>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30009210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02F3607F-51DF-4189-ACB5-78961BD233FD}" type="datetimeFigureOut">
              <a:rPr lang="ru-RU" smtClean="0"/>
              <a:t>21.03.2021</a:t>
            </a:fld>
            <a:endParaRPr lang="ru-RU"/>
          </a:p>
        </p:txBody>
      </p:sp>
      <p:sp>
        <p:nvSpPr>
          <p:cNvPr id="5" name="Footer Placeholder 2"/>
          <p:cNvSpPr>
            <a:spLocks noGrp="1"/>
          </p:cNvSpPr>
          <p:nvPr>
            <p:ph type="ftr" sz="quarter" idx="11"/>
          </p:nvPr>
        </p:nvSpPr>
        <p:spPr/>
        <p:txBody>
          <a:bodyPr/>
          <a:lstStyle/>
          <a:p>
            <a:endParaRPr lang="ru-RU"/>
          </a:p>
        </p:txBody>
      </p:sp>
      <p:sp>
        <p:nvSpPr>
          <p:cNvPr id="6" name="Slide Number Placeholder 3"/>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13265974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ru-RU" smtClean="0"/>
              <a:t>Образец заголовка</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sp>
        <p:nvSpPr>
          <p:cNvPr id="7" name="Date Placeholder 4"/>
          <p:cNvSpPr>
            <a:spLocks noGrp="1"/>
          </p:cNvSpPr>
          <p:nvPr>
            <p:ph type="dt" sz="half" idx="10"/>
          </p:nvPr>
        </p:nvSpPr>
        <p:spPr/>
        <p:txBody>
          <a:bodyPr/>
          <a:lstStyle/>
          <a:p>
            <a:fld id="{02F3607F-51DF-4189-ACB5-78961BD233FD}" type="datetimeFigureOut">
              <a:rPr lang="ru-RU" smtClean="0"/>
              <a:t>21.03.2021</a:t>
            </a:fld>
            <a:endParaRPr lang="ru-RU"/>
          </a:p>
        </p:txBody>
      </p:sp>
      <p:sp>
        <p:nvSpPr>
          <p:cNvPr id="5" name="Footer Placeholder 5"/>
          <p:cNvSpPr>
            <a:spLocks noGrp="1"/>
          </p:cNvSpPr>
          <p:nvPr>
            <p:ph type="ftr" sz="quarter" idx="11"/>
          </p:nvPr>
        </p:nvSpPr>
        <p:spPr/>
        <p:txBody>
          <a:bodyPr/>
          <a:lstStyle/>
          <a:p>
            <a:endParaRPr lang="ru-RU"/>
          </a:p>
        </p:txBody>
      </p:sp>
      <p:sp>
        <p:nvSpPr>
          <p:cNvPr id="6" name="Slide Number Placeholder 6"/>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14154636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ru-RU" smtClean="0"/>
              <a:t>Образец заголовка</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ru-RU" smtClean="0"/>
              <a:t>Вставка рисунка</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sp>
        <p:nvSpPr>
          <p:cNvPr id="5" name="Date Placeholder 4"/>
          <p:cNvSpPr>
            <a:spLocks noGrp="1"/>
          </p:cNvSpPr>
          <p:nvPr>
            <p:ph type="dt" sz="half" idx="10"/>
          </p:nvPr>
        </p:nvSpPr>
        <p:spPr/>
        <p:txBody>
          <a:bodyPr/>
          <a:lstStyle/>
          <a:p>
            <a:fld id="{02F3607F-51DF-4189-ACB5-78961BD233FD}" type="datetimeFigureOut">
              <a:rPr lang="ru-RU" smtClean="0"/>
              <a:t>21.03.2021</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40829619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Панорамная фотография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ru-RU" smtClean="0"/>
              <a:t>Образец заголовка</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ru-RU" smtClean="0"/>
              <a:t>Вставка рисунка</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sp>
        <p:nvSpPr>
          <p:cNvPr id="5" name="Date Placeholder 4"/>
          <p:cNvSpPr>
            <a:spLocks noGrp="1"/>
          </p:cNvSpPr>
          <p:nvPr>
            <p:ph type="dt" sz="half" idx="10"/>
          </p:nvPr>
        </p:nvSpPr>
        <p:spPr/>
        <p:txBody>
          <a:bodyPr/>
          <a:lstStyle/>
          <a:p>
            <a:fld id="{02F3607F-51DF-4189-ACB5-78961BD233FD}" type="datetimeFigureOut">
              <a:rPr lang="ru-RU" smtClean="0"/>
              <a:t>21.03.2021</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23499456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Заголовок и подпись">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ru-RU" smtClean="0"/>
              <a:t>Образец заголовка</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sp>
        <p:nvSpPr>
          <p:cNvPr id="4" name="Date Placeholder 3"/>
          <p:cNvSpPr>
            <a:spLocks noGrp="1"/>
          </p:cNvSpPr>
          <p:nvPr>
            <p:ph type="dt" sz="half" idx="10"/>
          </p:nvPr>
        </p:nvSpPr>
        <p:spPr/>
        <p:txBody>
          <a:bodyPr/>
          <a:lstStyle/>
          <a:p>
            <a:fld id="{02F3607F-51DF-4189-ACB5-78961BD233FD}" type="datetimeFigureOut">
              <a:rPr lang="ru-RU" smtClean="0"/>
              <a:t>21.03.2021</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3658286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Цитата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ru-RU" smtClean="0"/>
              <a:t>Образец заголовка</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ru-RU" smtClean="0"/>
              <a:t>Образец текста</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sp>
        <p:nvSpPr>
          <p:cNvPr id="4" name="Date Placeholder 3"/>
          <p:cNvSpPr>
            <a:spLocks noGrp="1"/>
          </p:cNvSpPr>
          <p:nvPr>
            <p:ph type="dt" sz="half" idx="10"/>
          </p:nvPr>
        </p:nvSpPr>
        <p:spPr/>
        <p:txBody>
          <a:bodyPr/>
          <a:lstStyle/>
          <a:p>
            <a:fld id="{02F3607F-51DF-4189-ACB5-78961BD233FD}" type="datetimeFigureOut">
              <a:rPr lang="ru-RU" smtClean="0"/>
              <a:t>21.03.2021</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CC335B56-2E5F-4198-9A30-ACC1A937B783}" type="slidenum">
              <a:rPr lang="ru-RU" smtClean="0"/>
              <a:t>‹#›</a:t>
            </a:fld>
            <a:endParaRPr lang="ru-RU"/>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31028787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Карточка имени">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ru-RU" smtClean="0"/>
              <a:t>Образец заголовка</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ru-RU" smtClean="0"/>
              <a:t>Образец текста</a:t>
            </a:r>
          </a:p>
        </p:txBody>
      </p:sp>
      <p:sp>
        <p:nvSpPr>
          <p:cNvPr id="4" name="Date Placeholder 3"/>
          <p:cNvSpPr>
            <a:spLocks noGrp="1"/>
          </p:cNvSpPr>
          <p:nvPr>
            <p:ph type="dt" sz="half" idx="10"/>
          </p:nvPr>
        </p:nvSpPr>
        <p:spPr/>
        <p:txBody>
          <a:bodyPr/>
          <a:lstStyle/>
          <a:p>
            <a:fld id="{02F3607F-51DF-4189-ACB5-78961BD233FD}" type="datetimeFigureOut">
              <a:rPr lang="ru-RU" smtClean="0"/>
              <a:t>21.03.2021</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20729739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Три колонк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ru-RU" smtClean="0"/>
              <a:t>Образец заголовка</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smtClean="0"/>
              <a:t>Образец текста</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smtClean="0"/>
              <a:t>Образец текста</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smtClean="0"/>
              <a:t>Образец текста</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02F3607F-51DF-4189-ACB5-78961BD233FD}" type="datetimeFigureOut">
              <a:rPr lang="ru-RU" smtClean="0"/>
              <a:t>21.03.2021</a:t>
            </a:fld>
            <a:endParaRPr lang="ru-RU"/>
          </a:p>
        </p:txBody>
      </p:sp>
      <p:sp>
        <p:nvSpPr>
          <p:cNvPr id="4"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4060367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Столбец с тремя рисункам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ru-RU" smtClean="0"/>
              <a:t>Образец заголовка</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smtClean="0"/>
              <a:t>Образец текста</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ru-RU" smtClean="0"/>
              <a:t>Вставка рисунка</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smtClean="0"/>
              <a:t>Образец текста</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ru-RU" smtClean="0"/>
              <a:t>Вставка рисунка</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smtClean="0"/>
              <a:t>Образец текста</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ru-RU" smtClean="0"/>
              <a:t>Вставка рисунка</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02F3607F-51DF-4189-ACB5-78961BD233FD}" type="datetimeFigureOut">
              <a:rPr lang="ru-RU" smtClean="0"/>
              <a:t>21.03.2021</a:t>
            </a:fld>
            <a:endParaRPr lang="ru-RU"/>
          </a:p>
        </p:txBody>
      </p:sp>
      <p:sp>
        <p:nvSpPr>
          <p:cNvPr id="4"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35065454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smtClean="0"/>
              <a:t>Образец заголовка</a:t>
            </a:r>
            <a:endParaRPr lang="en-US" dirty="0"/>
          </a:p>
        </p:txBody>
      </p:sp>
      <p:sp>
        <p:nvSpPr>
          <p:cNvPr id="3" name="Vertical Text Placeholder 2"/>
          <p:cNvSpPr>
            <a:spLocks noGrp="1"/>
          </p:cNvSpPr>
          <p:nvPr>
            <p:ph type="body" orient="vert" idx="1"/>
          </p:nvPr>
        </p:nvSpPr>
        <p:spPr/>
        <p:txBody>
          <a:bodyPr vert="eaVert" anchor="t" anchorCtr="0"/>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en-US" dirty="0"/>
          </a:p>
        </p:txBody>
      </p:sp>
      <p:sp>
        <p:nvSpPr>
          <p:cNvPr id="4" name="Date Placeholder 3"/>
          <p:cNvSpPr>
            <a:spLocks noGrp="1"/>
          </p:cNvSpPr>
          <p:nvPr>
            <p:ph type="dt" sz="half" idx="10"/>
          </p:nvPr>
        </p:nvSpPr>
        <p:spPr/>
        <p:txBody>
          <a:bodyPr/>
          <a:lstStyle/>
          <a:p>
            <a:fld id="{02F3607F-51DF-4189-ACB5-78961BD233FD}" type="datetimeFigureOut">
              <a:rPr lang="ru-RU" smtClean="0"/>
              <a:t>21.03.2021</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27415082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ru-RU" smtClean="0"/>
              <a:t>Образец заголовка</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en-US" dirty="0"/>
          </a:p>
        </p:txBody>
      </p:sp>
      <p:sp>
        <p:nvSpPr>
          <p:cNvPr id="4" name="Date Placeholder 3"/>
          <p:cNvSpPr>
            <a:spLocks noGrp="1"/>
          </p:cNvSpPr>
          <p:nvPr>
            <p:ph type="dt" sz="half" idx="10"/>
          </p:nvPr>
        </p:nvSpPr>
        <p:spPr/>
        <p:txBody>
          <a:bodyPr/>
          <a:lstStyle/>
          <a:p>
            <a:fld id="{02F3607F-51DF-4189-ACB5-78961BD233FD}" type="datetimeFigureOut">
              <a:rPr lang="ru-RU" smtClean="0"/>
              <a:t>21.03.2021</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CC335B56-2E5F-4198-9A30-ACC1A937B783}" type="slidenum">
              <a:rPr lang="ru-RU" smtClean="0"/>
              <a:t>‹#›</a:t>
            </a:fld>
            <a:endParaRPr lang="ru-RU"/>
          </a:p>
        </p:txBody>
      </p:sp>
    </p:spTree>
    <p:extLst>
      <p:ext uri="{BB962C8B-B14F-4D97-AF65-F5344CB8AC3E}">
        <p14:creationId xmlns:p14="http://schemas.microsoft.com/office/powerpoint/2010/main" val="44627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ru-RU" smtClean="0"/>
              <a:t>Образец заголовка</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02F3607F-51DF-4189-ACB5-78961BD233FD}" type="datetimeFigureOut">
              <a:rPr lang="ru-RU" smtClean="0"/>
              <a:t>21.03.2021</a:t>
            </a:fld>
            <a:endParaRPr lang="ru-RU"/>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ru-RU"/>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CC335B56-2E5F-4198-9A30-ACC1A937B783}" type="slidenum">
              <a:rPr lang="ru-RU" smtClean="0"/>
              <a:t>‹#›</a:t>
            </a:fld>
            <a:endParaRPr lang="ru-RU"/>
          </a:p>
        </p:txBody>
      </p:sp>
    </p:spTree>
    <p:extLst>
      <p:ext uri="{BB962C8B-B14F-4D97-AF65-F5344CB8AC3E}">
        <p14:creationId xmlns:p14="http://schemas.microsoft.com/office/powerpoint/2010/main" val="94235460"/>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ctrTitle"/>
          </p:nvPr>
        </p:nvSpPr>
        <p:spPr/>
        <p:txBody>
          <a:bodyPr/>
          <a:lstStyle/>
          <a:p>
            <a:r>
              <a:rPr lang="en-US" dirty="0" smtClean="0"/>
              <a:t>DIRECTED GRAPH</a:t>
            </a:r>
            <a:endParaRPr lang="ru-RU" dirty="0"/>
          </a:p>
        </p:txBody>
      </p:sp>
    </p:spTree>
    <p:extLst>
      <p:ext uri="{BB962C8B-B14F-4D97-AF65-F5344CB8AC3E}">
        <p14:creationId xmlns:p14="http://schemas.microsoft.com/office/powerpoint/2010/main" val="5976259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3818354" y="652388"/>
            <a:ext cx="3516456" cy="1400530"/>
          </a:xfrm>
        </p:spPr>
        <p:txBody>
          <a:bodyPr/>
          <a:lstStyle/>
          <a:p>
            <a:r>
              <a:rPr lang="en-US" b="1" dirty="0"/>
              <a:t>Digraphs.</a:t>
            </a:r>
            <a:br>
              <a:rPr lang="en-US" b="1" dirty="0"/>
            </a:br>
            <a:r>
              <a:rPr lang="en-US" dirty="0"/>
              <a:t> </a:t>
            </a:r>
            <a:endParaRPr lang="ru-RU" dirty="0"/>
          </a:p>
        </p:txBody>
      </p:sp>
      <p:sp>
        <p:nvSpPr>
          <p:cNvPr id="3" name="Объект 2"/>
          <p:cNvSpPr>
            <a:spLocks noGrp="1"/>
          </p:cNvSpPr>
          <p:nvPr>
            <p:ph idx="1"/>
          </p:nvPr>
        </p:nvSpPr>
        <p:spPr>
          <a:xfrm>
            <a:off x="1103311" y="1399350"/>
            <a:ext cx="9050623" cy="5083337"/>
          </a:xfrm>
        </p:spPr>
        <p:txBody>
          <a:bodyPr/>
          <a:lstStyle/>
          <a:p>
            <a:r>
              <a:rPr lang="en-US" dirty="0"/>
              <a:t>A </a:t>
            </a:r>
            <a:r>
              <a:rPr lang="en-US" i="1" dirty="0"/>
              <a:t>directed graph</a:t>
            </a:r>
            <a:r>
              <a:rPr lang="en-US" dirty="0"/>
              <a:t> (or </a:t>
            </a:r>
            <a:r>
              <a:rPr lang="en-US" i="1" dirty="0"/>
              <a:t>digraph</a:t>
            </a:r>
            <a:r>
              <a:rPr lang="en-US" dirty="0"/>
              <a:t>) is a set of </a:t>
            </a:r>
            <a:r>
              <a:rPr lang="en-US" i="1" dirty="0"/>
              <a:t>vertices</a:t>
            </a:r>
            <a:r>
              <a:rPr lang="en-US" dirty="0"/>
              <a:t> and a collection of </a:t>
            </a:r>
            <a:r>
              <a:rPr lang="en-US" i="1" dirty="0"/>
              <a:t>directed edges</a:t>
            </a:r>
            <a:r>
              <a:rPr lang="en-US" dirty="0"/>
              <a:t> that each connects an ordered pair of vertices. We say that a directed edge </a:t>
            </a:r>
            <a:r>
              <a:rPr lang="en-US" i="1" dirty="0"/>
              <a:t>points from</a:t>
            </a:r>
            <a:r>
              <a:rPr lang="en-US" dirty="0"/>
              <a:t> the first vertex in the pair and </a:t>
            </a:r>
            <a:r>
              <a:rPr lang="en-US" i="1" dirty="0"/>
              <a:t>points to</a:t>
            </a:r>
            <a:r>
              <a:rPr lang="en-US" dirty="0"/>
              <a:t> the second vertex in the pair. We use the names 0 through V-1 for the vertices in a V-vertex graph</a:t>
            </a:r>
            <a:r>
              <a:rPr lang="en-US" dirty="0" smtClean="0"/>
              <a:t>.</a:t>
            </a:r>
          </a:p>
          <a:p>
            <a:endParaRPr lang="en-US" dirty="0"/>
          </a:p>
          <a:p>
            <a:endParaRPr lang="en-US" dirty="0" smtClean="0"/>
          </a:p>
          <a:p>
            <a:endParaRPr lang="en-US" dirty="0"/>
          </a:p>
          <a:p>
            <a:endParaRPr lang="en-US" dirty="0" smtClean="0"/>
          </a:p>
          <a:p>
            <a:endParaRPr lang="en-US" dirty="0"/>
          </a:p>
          <a:p>
            <a:r>
              <a:rPr lang="en-US" dirty="0"/>
              <a:t>In the above Graph, the set of vertices V = {0,1,2,3,4} and the set of edges E = {</a:t>
            </a:r>
            <a:r>
              <a:rPr lang="en-US" dirty="0" smtClean="0"/>
              <a:t>0-1</a:t>
            </a:r>
            <a:r>
              <a:rPr lang="en-US" dirty="0"/>
              <a:t>, </a:t>
            </a:r>
            <a:r>
              <a:rPr lang="en-US" dirty="0" smtClean="0"/>
              <a:t>1-2</a:t>
            </a:r>
            <a:r>
              <a:rPr lang="en-US" dirty="0"/>
              <a:t>, </a:t>
            </a:r>
            <a:r>
              <a:rPr lang="en-US" dirty="0" smtClean="0"/>
              <a:t>2-3</a:t>
            </a:r>
            <a:r>
              <a:rPr lang="en-US" dirty="0"/>
              <a:t>, </a:t>
            </a:r>
            <a:r>
              <a:rPr lang="en-US" dirty="0" smtClean="0"/>
              <a:t>3-4</a:t>
            </a:r>
            <a:r>
              <a:rPr lang="en-US" dirty="0"/>
              <a:t>, </a:t>
            </a:r>
            <a:r>
              <a:rPr lang="en-US" dirty="0" smtClean="0"/>
              <a:t>0-4</a:t>
            </a:r>
            <a:r>
              <a:rPr lang="en-US" dirty="0"/>
              <a:t>, </a:t>
            </a:r>
            <a:r>
              <a:rPr lang="en-US" dirty="0" smtClean="0"/>
              <a:t>1-4</a:t>
            </a:r>
            <a:r>
              <a:rPr lang="en-US" dirty="0"/>
              <a:t>, </a:t>
            </a:r>
            <a:r>
              <a:rPr lang="en-US" dirty="0" smtClean="0"/>
              <a:t>1-3</a:t>
            </a:r>
            <a:r>
              <a:rPr lang="en-US" dirty="0"/>
              <a:t>}.</a:t>
            </a:r>
            <a:endParaRPr lang="en-US" dirty="0" smtClean="0"/>
          </a:p>
        </p:txBody>
      </p:sp>
      <p:pic>
        <p:nvPicPr>
          <p:cNvPr id="2050" name="Picture 2" descr="https://media.geeksforgeeks.org/wp-content/cdn-uploads/undirectedgraph.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193" y="2991063"/>
            <a:ext cx="4676775" cy="2019301"/>
          </a:xfrm>
          <a:prstGeom prst="rect">
            <a:avLst/>
          </a:prstGeom>
          <a:noFill/>
          <a:extLst>
            <a:ext uri="{909E8E84-426E-40DD-AFC4-6F175D3DCCD1}">
              <a14:hiddenFill xmlns:a14="http://schemas.microsoft.com/office/drawing/2010/main">
                <a:solidFill>
                  <a:srgbClr val="FFFFFF"/>
                </a:solidFill>
              </a14:hiddenFill>
            </a:ext>
          </a:extLst>
        </p:spPr>
      </p:pic>
      <p:cxnSp>
        <p:nvCxnSpPr>
          <p:cNvPr id="5" name="Прямая со стрелкой 4"/>
          <p:cNvCxnSpPr/>
          <p:nvPr/>
        </p:nvCxnSpPr>
        <p:spPr>
          <a:xfrm>
            <a:off x="5235494" y="3178628"/>
            <a:ext cx="682171" cy="14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Прямая со стрелкой 6"/>
          <p:cNvCxnSpPr/>
          <p:nvPr/>
        </p:nvCxnSpPr>
        <p:spPr>
          <a:xfrm>
            <a:off x="6255657" y="3264125"/>
            <a:ext cx="781491" cy="4020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Прямая со стрелкой 8"/>
          <p:cNvCxnSpPr/>
          <p:nvPr/>
        </p:nvCxnSpPr>
        <p:spPr>
          <a:xfrm flipH="1">
            <a:off x="6392530" y="3941018"/>
            <a:ext cx="644618" cy="3473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Прямая со стрелкой 18"/>
          <p:cNvCxnSpPr/>
          <p:nvPr/>
        </p:nvCxnSpPr>
        <p:spPr>
          <a:xfrm>
            <a:off x="4934857" y="3465132"/>
            <a:ext cx="14514" cy="5355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Прямая со стрелкой 20"/>
          <p:cNvCxnSpPr/>
          <p:nvPr/>
        </p:nvCxnSpPr>
        <p:spPr>
          <a:xfrm flipH="1">
            <a:off x="5151502" y="4309566"/>
            <a:ext cx="68217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Прямая со стрелкой 22"/>
          <p:cNvCxnSpPr/>
          <p:nvPr/>
        </p:nvCxnSpPr>
        <p:spPr>
          <a:xfrm flipH="1">
            <a:off x="5151503" y="3326066"/>
            <a:ext cx="766162" cy="7886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Прямая со стрелкой 25"/>
          <p:cNvCxnSpPr/>
          <p:nvPr/>
        </p:nvCxnSpPr>
        <p:spPr>
          <a:xfrm>
            <a:off x="6099066" y="3465132"/>
            <a:ext cx="14514" cy="6495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14929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Digraph AP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52360" y="1977272"/>
            <a:ext cx="8915447" cy="3758845"/>
          </a:xfrm>
          <a:prstGeom prst="rect">
            <a:avLst/>
          </a:prstGeom>
          <a:noFill/>
          <a:extLst>
            <a:ext uri="{909E8E84-426E-40DD-AFC4-6F175D3DCCD1}">
              <a14:hiddenFill xmlns:a14="http://schemas.microsoft.com/office/drawing/2010/main">
                <a:solidFill>
                  <a:srgbClr val="FFFFFF"/>
                </a:solidFill>
              </a14:hiddenFill>
            </a:ext>
          </a:extLst>
        </p:spPr>
      </p:pic>
      <p:sp>
        <p:nvSpPr>
          <p:cNvPr id="5" name="Заголовок 4"/>
          <p:cNvSpPr>
            <a:spLocks noGrp="1"/>
          </p:cNvSpPr>
          <p:nvPr>
            <p:ph type="title"/>
          </p:nvPr>
        </p:nvSpPr>
        <p:spPr>
          <a:xfrm>
            <a:off x="1507723" y="490889"/>
            <a:ext cx="9404723" cy="1400530"/>
          </a:xfrm>
        </p:spPr>
        <p:txBody>
          <a:bodyPr/>
          <a:lstStyle/>
          <a:p>
            <a:r>
              <a:rPr lang="en-US" sz="3200" dirty="0"/>
              <a:t> We implement the following digraph API.</a:t>
            </a:r>
            <a:endParaRPr lang="ru-RU" sz="3200" dirty="0"/>
          </a:p>
        </p:txBody>
      </p:sp>
    </p:spTree>
    <p:extLst>
      <p:ext uri="{BB962C8B-B14F-4D97-AF65-F5344CB8AC3E}">
        <p14:creationId xmlns:p14="http://schemas.microsoft.com/office/powerpoint/2010/main" val="30602833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19637" y="931690"/>
            <a:ext cx="9513889" cy="824539"/>
          </a:xfrm>
        </p:spPr>
        <p:txBody>
          <a:bodyPr/>
          <a:lstStyle/>
          <a:p>
            <a:r>
              <a:rPr lang="en-US" sz="3200" dirty="0" smtClean="0"/>
              <a:t>Implementation </a:t>
            </a:r>
            <a:r>
              <a:rPr lang="en-US" sz="3200" dirty="0"/>
              <a:t>of directed graph </a:t>
            </a:r>
            <a:r>
              <a:rPr lang="en-US" sz="3200" dirty="0" smtClean="0"/>
              <a:t>using java</a:t>
            </a:r>
            <a:endParaRPr lang="ru-RU" sz="3200" dirty="0"/>
          </a:p>
        </p:txBody>
      </p:sp>
      <p:sp>
        <p:nvSpPr>
          <p:cNvPr id="3" name="Объект 2"/>
          <p:cNvSpPr>
            <a:spLocks noGrp="1"/>
          </p:cNvSpPr>
          <p:nvPr>
            <p:ph idx="1"/>
          </p:nvPr>
        </p:nvSpPr>
        <p:spPr/>
        <p:txBody>
          <a:bodyPr/>
          <a:lstStyle/>
          <a:p>
            <a:r>
              <a:rPr lang="en-US" dirty="0"/>
              <a:t>Java does not provide a full-fledged implementation of the graph data structure. However, we can represent the graph programmatically using Collections in Java. We can also implement a graph using dynamic arrays like vectors.</a:t>
            </a:r>
          </a:p>
          <a:p>
            <a:endParaRPr lang="en-US" dirty="0"/>
          </a:p>
          <a:p>
            <a:r>
              <a:rPr lang="en-US" dirty="0"/>
              <a:t>A most common way to create a graph is by using one of the representations of graphs like adjacency matrix or adjacency list. We will discuss these representations next and then implement the graph in Java using the adjacency </a:t>
            </a:r>
            <a:r>
              <a:rPr lang="en-US" dirty="0" smtClean="0"/>
              <a:t>list for </a:t>
            </a:r>
            <a:r>
              <a:rPr lang="en-US" dirty="0"/>
              <a:t>which we will use </a:t>
            </a:r>
            <a:r>
              <a:rPr lang="en-US" dirty="0" smtClean="0"/>
              <a:t>Array List.</a:t>
            </a:r>
            <a:endParaRPr lang="ru-RU" dirty="0"/>
          </a:p>
        </p:txBody>
      </p:sp>
    </p:spTree>
    <p:extLst>
      <p:ext uri="{BB962C8B-B14F-4D97-AF65-F5344CB8AC3E}">
        <p14:creationId xmlns:p14="http://schemas.microsoft.com/office/powerpoint/2010/main" val="37041932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smtClean="0"/>
              <a:t>						Adjacency Matrix</a:t>
            </a:r>
            <a:endParaRPr lang="ru-RU" dirty="0"/>
          </a:p>
        </p:txBody>
      </p:sp>
      <p:sp>
        <p:nvSpPr>
          <p:cNvPr id="3" name="Объект 2"/>
          <p:cNvSpPr>
            <a:spLocks noGrp="1"/>
          </p:cNvSpPr>
          <p:nvPr>
            <p:ph idx="1"/>
          </p:nvPr>
        </p:nvSpPr>
        <p:spPr/>
        <p:txBody>
          <a:bodyPr/>
          <a:lstStyle/>
          <a:p>
            <a:r>
              <a:rPr lang="en-US" dirty="0" smtClean="0"/>
              <a:t>Adjacency Matrix is a linear representation of graphs. This matrix stores the mapping of vertices and edges of the graph. In the adjacency matrix, vertices of the graph represent rows and columns. This means if the graph has N vertices, then the adjacency matrix will have size NxN.</a:t>
            </a:r>
          </a:p>
          <a:p>
            <a:endParaRPr lang="en-US" dirty="0" smtClean="0"/>
          </a:p>
          <a:p>
            <a:r>
              <a:rPr lang="en-US" dirty="0" smtClean="0"/>
              <a:t>If V is a set of vertices of the graph then intersection </a:t>
            </a:r>
            <a:r>
              <a:rPr lang="en-US" dirty="0" err="1" smtClean="0"/>
              <a:t>Mij</a:t>
            </a:r>
            <a:r>
              <a:rPr lang="en-US" dirty="0" smtClean="0"/>
              <a:t> in the adjacency list = 1 means there is an edge existing between vertices </a:t>
            </a:r>
            <a:r>
              <a:rPr lang="en-US" dirty="0" err="1" smtClean="0"/>
              <a:t>i</a:t>
            </a:r>
            <a:r>
              <a:rPr lang="en-US" dirty="0" smtClean="0"/>
              <a:t> and j.</a:t>
            </a:r>
          </a:p>
          <a:p>
            <a:endParaRPr lang="ru-RU" dirty="0"/>
          </a:p>
        </p:txBody>
      </p:sp>
    </p:spTree>
    <p:extLst>
      <p:ext uri="{BB962C8B-B14F-4D97-AF65-F5344CB8AC3E}">
        <p14:creationId xmlns:p14="http://schemas.microsoft.com/office/powerpoint/2010/main" val="35993150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smtClean="0"/>
              <a:t>						Adjacency List</a:t>
            </a:r>
            <a:endParaRPr lang="ru-RU" dirty="0"/>
          </a:p>
        </p:txBody>
      </p:sp>
      <p:sp>
        <p:nvSpPr>
          <p:cNvPr id="3" name="Объект 2"/>
          <p:cNvSpPr>
            <a:spLocks noGrp="1"/>
          </p:cNvSpPr>
          <p:nvPr>
            <p:ph idx="1"/>
          </p:nvPr>
        </p:nvSpPr>
        <p:spPr/>
        <p:txBody>
          <a:bodyPr/>
          <a:lstStyle/>
          <a:p>
            <a:r>
              <a:rPr lang="en-US" dirty="0"/>
              <a:t>An adjacency list is nothing but a linked list and each node in the list represents a vertex.</a:t>
            </a:r>
          </a:p>
          <a:p>
            <a:endParaRPr lang="en-US" dirty="0"/>
          </a:p>
          <a:p>
            <a:r>
              <a:rPr lang="en-US" dirty="0"/>
              <a:t>The presence of an edge between two vertices is denoted by a pointer from the first vertex to the second. This adjacency list is maintained for each vertex in the graph.</a:t>
            </a:r>
          </a:p>
          <a:p>
            <a:endParaRPr lang="en-US" dirty="0"/>
          </a:p>
          <a:p>
            <a:r>
              <a:rPr lang="en-US" dirty="0"/>
              <a:t>When we have traversed all the adjacent nodes for a particular node, we store NULL in the next pointer field of the last node of the adjacency list.</a:t>
            </a:r>
            <a:endParaRPr lang="ru-RU" dirty="0"/>
          </a:p>
        </p:txBody>
      </p:sp>
    </p:spTree>
    <p:extLst>
      <p:ext uri="{BB962C8B-B14F-4D97-AF65-F5344CB8AC3E}">
        <p14:creationId xmlns:p14="http://schemas.microsoft.com/office/powerpoint/2010/main" val="3763257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Овал 3"/>
          <p:cNvSpPr/>
          <p:nvPr/>
        </p:nvSpPr>
        <p:spPr>
          <a:xfrm>
            <a:off x="2751865" y="862284"/>
            <a:ext cx="1037229" cy="941696"/>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1</a:t>
            </a:r>
            <a:endParaRPr lang="ru-RU" dirty="0"/>
          </a:p>
        </p:txBody>
      </p:sp>
      <p:sp>
        <p:nvSpPr>
          <p:cNvPr id="5" name="Овал 4"/>
          <p:cNvSpPr/>
          <p:nvPr/>
        </p:nvSpPr>
        <p:spPr>
          <a:xfrm>
            <a:off x="663758" y="2119302"/>
            <a:ext cx="1105468" cy="95534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3</a:t>
            </a:r>
            <a:endParaRPr lang="ru-RU" dirty="0"/>
          </a:p>
        </p:txBody>
      </p:sp>
      <p:sp>
        <p:nvSpPr>
          <p:cNvPr id="6" name="Овал 5"/>
          <p:cNvSpPr/>
          <p:nvPr/>
        </p:nvSpPr>
        <p:spPr>
          <a:xfrm>
            <a:off x="4662694" y="2277118"/>
            <a:ext cx="1091821" cy="96899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endParaRPr lang="ru-RU" dirty="0"/>
          </a:p>
        </p:txBody>
      </p:sp>
      <p:sp>
        <p:nvSpPr>
          <p:cNvPr id="7" name="Овал 6"/>
          <p:cNvSpPr/>
          <p:nvPr/>
        </p:nvSpPr>
        <p:spPr>
          <a:xfrm>
            <a:off x="1475908" y="3675146"/>
            <a:ext cx="1228298" cy="110546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5</a:t>
            </a:r>
            <a:endParaRPr lang="ru-RU" dirty="0"/>
          </a:p>
        </p:txBody>
      </p:sp>
      <p:sp>
        <p:nvSpPr>
          <p:cNvPr id="8" name="Овал 7"/>
          <p:cNvSpPr/>
          <p:nvPr/>
        </p:nvSpPr>
        <p:spPr>
          <a:xfrm>
            <a:off x="3789094" y="3675146"/>
            <a:ext cx="1241946" cy="116006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2</a:t>
            </a:r>
            <a:endParaRPr lang="ru-RU" dirty="0"/>
          </a:p>
        </p:txBody>
      </p:sp>
      <p:cxnSp>
        <p:nvCxnSpPr>
          <p:cNvPr id="11" name="Прямая со стрелкой 10"/>
          <p:cNvCxnSpPr/>
          <p:nvPr/>
        </p:nvCxnSpPr>
        <p:spPr>
          <a:xfrm flipV="1">
            <a:off x="1769226" y="1666072"/>
            <a:ext cx="982639" cy="583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Прямая со стрелкой 12"/>
          <p:cNvCxnSpPr/>
          <p:nvPr/>
        </p:nvCxnSpPr>
        <p:spPr>
          <a:xfrm>
            <a:off x="3995902" y="1729546"/>
            <a:ext cx="709684" cy="453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Прямая со стрелкой 16"/>
          <p:cNvCxnSpPr/>
          <p:nvPr/>
        </p:nvCxnSpPr>
        <p:spPr>
          <a:xfrm>
            <a:off x="2090057" y="2669004"/>
            <a:ext cx="2206172" cy="336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Прямая со стрелкой 18"/>
          <p:cNvCxnSpPr/>
          <p:nvPr/>
        </p:nvCxnSpPr>
        <p:spPr>
          <a:xfrm flipH="1">
            <a:off x="4864082" y="3268963"/>
            <a:ext cx="166958" cy="453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Прямая со стрелкой 20"/>
          <p:cNvCxnSpPr/>
          <p:nvPr/>
        </p:nvCxnSpPr>
        <p:spPr>
          <a:xfrm flipH="1">
            <a:off x="2751865" y="4151085"/>
            <a:ext cx="920249" cy="495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Прямая со стрелкой 23"/>
          <p:cNvCxnSpPr/>
          <p:nvPr/>
        </p:nvCxnSpPr>
        <p:spPr>
          <a:xfrm>
            <a:off x="1475908" y="3088293"/>
            <a:ext cx="293318" cy="5322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27" name="Таблица 26"/>
          <p:cNvGraphicFramePr>
            <a:graphicFrameLocks noGrp="1"/>
          </p:cNvGraphicFramePr>
          <p:nvPr>
            <p:extLst>
              <p:ext uri="{D42A27DB-BD31-4B8C-83A1-F6EECF244321}">
                <p14:modId xmlns:p14="http://schemas.microsoft.com/office/powerpoint/2010/main" val="1259929409"/>
              </p:ext>
            </p:extLst>
          </p:nvPr>
        </p:nvGraphicFramePr>
        <p:xfrm>
          <a:off x="6004570" y="843641"/>
          <a:ext cx="5689602" cy="2225040"/>
        </p:xfrm>
        <a:graphic>
          <a:graphicData uri="http://schemas.openxmlformats.org/drawingml/2006/table">
            <a:tbl>
              <a:tblPr firstRow="1" bandRow="1">
                <a:tableStyleId>{5C22544A-7EE6-4342-B048-85BDC9FD1C3A}</a:tableStyleId>
              </a:tblPr>
              <a:tblGrid>
                <a:gridCol w="948267"/>
                <a:gridCol w="948267"/>
                <a:gridCol w="948267"/>
                <a:gridCol w="948267"/>
                <a:gridCol w="948267"/>
                <a:gridCol w="948267"/>
              </a:tblGrid>
              <a:tr h="370840">
                <a:tc>
                  <a:txBody>
                    <a:bodyPr/>
                    <a:lstStyle/>
                    <a:p>
                      <a:endParaRPr lang="ru-RU" dirty="0"/>
                    </a:p>
                  </a:txBody>
                  <a:tcPr/>
                </a:tc>
                <a:tc>
                  <a:txBody>
                    <a:bodyPr/>
                    <a:lstStyle/>
                    <a:p>
                      <a:r>
                        <a:rPr lang="en-US" dirty="0" smtClean="0"/>
                        <a:t>1</a:t>
                      </a:r>
                      <a:endParaRPr lang="ru-RU" dirty="0"/>
                    </a:p>
                  </a:txBody>
                  <a:tcPr/>
                </a:tc>
                <a:tc>
                  <a:txBody>
                    <a:bodyPr/>
                    <a:lstStyle/>
                    <a:p>
                      <a:r>
                        <a:rPr lang="en-US" dirty="0" smtClean="0"/>
                        <a:t>2</a:t>
                      </a:r>
                      <a:endParaRPr lang="ru-RU" dirty="0"/>
                    </a:p>
                  </a:txBody>
                  <a:tcPr/>
                </a:tc>
                <a:tc>
                  <a:txBody>
                    <a:bodyPr/>
                    <a:lstStyle/>
                    <a:p>
                      <a:r>
                        <a:rPr lang="en-US" dirty="0" smtClean="0"/>
                        <a:t>3</a:t>
                      </a:r>
                      <a:endParaRPr lang="ru-RU" dirty="0"/>
                    </a:p>
                  </a:txBody>
                  <a:tcPr/>
                </a:tc>
                <a:tc>
                  <a:txBody>
                    <a:bodyPr/>
                    <a:lstStyle/>
                    <a:p>
                      <a:r>
                        <a:rPr lang="en-US" dirty="0" smtClean="0"/>
                        <a:t>4</a:t>
                      </a:r>
                      <a:endParaRPr lang="ru-RU" dirty="0"/>
                    </a:p>
                  </a:txBody>
                  <a:tcPr/>
                </a:tc>
                <a:tc>
                  <a:txBody>
                    <a:bodyPr/>
                    <a:lstStyle/>
                    <a:p>
                      <a:r>
                        <a:rPr lang="en-US" dirty="0" smtClean="0"/>
                        <a:t>5</a:t>
                      </a:r>
                      <a:endParaRPr lang="ru-RU" dirty="0"/>
                    </a:p>
                  </a:txBody>
                  <a:tcPr/>
                </a:tc>
              </a:tr>
              <a:tr h="370840">
                <a:tc>
                  <a:txBody>
                    <a:bodyPr/>
                    <a:lstStyle/>
                    <a:p>
                      <a:r>
                        <a:rPr lang="en-US" dirty="0" smtClean="0"/>
                        <a:t>1</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2</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3</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4</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5</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bl>
          </a:graphicData>
        </a:graphic>
      </p:graphicFrame>
      <p:sp>
        <p:nvSpPr>
          <p:cNvPr id="28" name="Заголовок 27"/>
          <p:cNvSpPr>
            <a:spLocks noGrp="1"/>
          </p:cNvSpPr>
          <p:nvPr>
            <p:ph type="title"/>
          </p:nvPr>
        </p:nvSpPr>
        <p:spPr>
          <a:xfrm>
            <a:off x="6313973" y="230166"/>
            <a:ext cx="5181341" cy="964214"/>
          </a:xfrm>
        </p:spPr>
        <p:txBody>
          <a:bodyPr/>
          <a:lstStyle/>
          <a:p>
            <a:r>
              <a:rPr lang="en-US" sz="2800" i="1" dirty="0" smtClean="0"/>
              <a:t>Adjacency-matrix</a:t>
            </a:r>
            <a:endParaRPr lang="ru-RU" sz="2800" dirty="0"/>
          </a:p>
        </p:txBody>
      </p:sp>
      <p:sp>
        <p:nvSpPr>
          <p:cNvPr id="33" name="TextBox 32"/>
          <p:cNvSpPr txBox="1"/>
          <p:nvPr/>
        </p:nvSpPr>
        <p:spPr>
          <a:xfrm>
            <a:off x="6610345" y="3198973"/>
            <a:ext cx="3730172" cy="523220"/>
          </a:xfrm>
          <a:prstGeom prst="rect">
            <a:avLst/>
          </a:prstGeom>
          <a:noFill/>
        </p:spPr>
        <p:txBody>
          <a:bodyPr wrap="square" rtlCol="0">
            <a:spAutoFit/>
          </a:bodyPr>
          <a:lstStyle/>
          <a:p>
            <a:r>
              <a:rPr lang="en-US" sz="2800" i="1" dirty="0" smtClean="0"/>
              <a:t>Adjacency-list</a:t>
            </a:r>
            <a:endParaRPr lang="ru-RU" sz="2800" i="1" dirty="0"/>
          </a:p>
        </p:txBody>
      </p:sp>
      <p:graphicFrame>
        <p:nvGraphicFramePr>
          <p:cNvPr id="34" name="Таблица 33"/>
          <p:cNvGraphicFramePr>
            <a:graphicFrameLocks noGrp="1"/>
          </p:cNvGraphicFramePr>
          <p:nvPr>
            <p:extLst>
              <p:ext uri="{D42A27DB-BD31-4B8C-83A1-F6EECF244321}">
                <p14:modId xmlns:p14="http://schemas.microsoft.com/office/powerpoint/2010/main" val="191022906"/>
              </p:ext>
            </p:extLst>
          </p:nvPr>
        </p:nvGraphicFramePr>
        <p:xfrm>
          <a:off x="6049345" y="3735083"/>
          <a:ext cx="522514" cy="1949340"/>
        </p:xfrm>
        <a:graphic>
          <a:graphicData uri="http://schemas.openxmlformats.org/drawingml/2006/table">
            <a:tbl>
              <a:tblPr firstRow="1" bandRow="1">
                <a:tableStyleId>{5C22544A-7EE6-4342-B048-85BDC9FD1C3A}</a:tableStyleId>
              </a:tblPr>
              <a:tblGrid>
                <a:gridCol w="522514"/>
              </a:tblGrid>
              <a:tr h="389868">
                <a:tc>
                  <a:txBody>
                    <a:bodyPr/>
                    <a:lstStyle/>
                    <a:p>
                      <a:r>
                        <a:rPr lang="en-US" dirty="0" smtClean="0"/>
                        <a:t>1</a:t>
                      </a:r>
                      <a:endParaRPr lang="ru-RU" dirty="0"/>
                    </a:p>
                  </a:txBody>
                  <a:tcPr/>
                </a:tc>
              </a:tr>
              <a:tr h="389868">
                <a:tc>
                  <a:txBody>
                    <a:bodyPr/>
                    <a:lstStyle/>
                    <a:p>
                      <a:r>
                        <a:rPr lang="en-US" dirty="0" smtClean="0"/>
                        <a:t>2</a:t>
                      </a:r>
                      <a:endParaRPr lang="ru-RU" dirty="0"/>
                    </a:p>
                  </a:txBody>
                  <a:tcPr/>
                </a:tc>
              </a:tr>
              <a:tr h="389868">
                <a:tc>
                  <a:txBody>
                    <a:bodyPr/>
                    <a:lstStyle/>
                    <a:p>
                      <a:r>
                        <a:rPr lang="en-US" dirty="0" smtClean="0"/>
                        <a:t>3</a:t>
                      </a:r>
                      <a:endParaRPr lang="ru-RU" dirty="0"/>
                    </a:p>
                  </a:txBody>
                  <a:tcPr/>
                </a:tc>
              </a:tr>
              <a:tr h="389868">
                <a:tc>
                  <a:txBody>
                    <a:bodyPr/>
                    <a:lstStyle/>
                    <a:p>
                      <a:r>
                        <a:rPr lang="en-US" dirty="0" smtClean="0"/>
                        <a:t>4</a:t>
                      </a:r>
                      <a:endParaRPr lang="ru-RU" dirty="0"/>
                    </a:p>
                  </a:txBody>
                  <a:tcPr/>
                </a:tc>
              </a:tr>
              <a:tr h="389868">
                <a:tc>
                  <a:txBody>
                    <a:bodyPr/>
                    <a:lstStyle/>
                    <a:p>
                      <a:r>
                        <a:rPr lang="en-US" dirty="0" smtClean="0"/>
                        <a:t>5</a:t>
                      </a:r>
                      <a:endParaRPr lang="ru-RU" dirty="0"/>
                    </a:p>
                  </a:txBody>
                  <a:tcPr/>
                </a:tc>
              </a:tr>
            </a:tbl>
          </a:graphicData>
        </a:graphic>
      </p:graphicFrame>
    </p:spTree>
    <p:extLst>
      <p:ext uri="{BB962C8B-B14F-4D97-AF65-F5344CB8AC3E}">
        <p14:creationId xmlns:p14="http://schemas.microsoft.com/office/powerpoint/2010/main" val="1623678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extBox 30"/>
          <p:cNvSpPr txBox="1"/>
          <p:nvPr/>
        </p:nvSpPr>
        <p:spPr>
          <a:xfrm>
            <a:off x="5031040" y="1586829"/>
            <a:ext cx="3556000" cy="369332"/>
          </a:xfrm>
          <a:prstGeom prst="rect">
            <a:avLst/>
          </a:prstGeom>
          <a:noFill/>
        </p:spPr>
        <p:txBody>
          <a:bodyPr wrap="square" rtlCol="0">
            <a:spAutoFit/>
          </a:bodyPr>
          <a:lstStyle/>
          <a:p>
            <a:r>
              <a:rPr lang="en-US" dirty="0" smtClean="0"/>
              <a:t>1-&gt;4</a:t>
            </a:r>
            <a:endParaRPr lang="ru-RU" dirty="0"/>
          </a:p>
        </p:txBody>
      </p:sp>
      <p:sp>
        <p:nvSpPr>
          <p:cNvPr id="65" name="Овал 64"/>
          <p:cNvSpPr/>
          <p:nvPr/>
        </p:nvSpPr>
        <p:spPr>
          <a:xfrm>
            <a:off x="2751865" y="862284"/>
            <a:ext cx="1037229" cy="941696"/>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1</a:t>
            </a:r>
            <a:endParaRPr lang="ru-RU" dirty="0"/>
          </a:p>
        </p:txBody>
      </p:sp>
      <p:sp>
        <p:nvSpPr>
          <p:cNvPr id="66" name="Овал 65"/>
          <p:cNvSpPr/>
          <p:nvPr/>
        </p:nvSpPr>
        <p:spPr>
          <a:xfrm>
            <a:off x="663758" y="2119302"/>
            <a:ext cx="1105468" cy="95534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3</a:t>
            </a:r>
            <a:endParaRPr lang="ru-RU" dirty="0"/>
          </a:p>
        </p:txBody>
      </p:sp>
      <p:sp>
        <p:nvSpPr>
          <p:cNvPr id="67" name="Овал 66"/>
          <p:cNvSpPr/>
          <p:nvPr/>
        </p:nvSpPr>
        <p:spPr>
          <a:xfrm>
            <a:off x="4662694" y="2277118"/>
            <a:ext cx="1091821" cy="96899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endParaRPr lang="ru-RU" dirty="0"/>
          </a:p>
        </p:txBody>
      </p:sp>
      <p:sp>
        <p:nvSpPr>
          <p:cNvPr id="68" name="Овал 67"/>
          <p:cNvSpPr/>
          <p:nvPr/>
        </p:nvSpPr>
        <p:spPr>
          <a:xfrm>
            <a:off x="1475908" y="3675146"/>
            <a:ext cx="1228298" cy="110546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5</a:t>
            </a:r>
            <a:endParaRPr lang="ru-RU" dirty="0"/>
          </a:p>
        </p:txBody>
      </p:sp>
      <p:sp>
        <p:nvSpPr>
          <p:cNvPr id="69" name="Овал 68"/>
          <p:cNvSpPr/>
          <p:nvPr/>
        </p:nvSpPr>
        <p:spPr>
          <a:xfrm>
            <a:off x="3789094" y="3675146"/>
            <a:ext cx="1241946" cy="116006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2</a:t>
            </a:r>
            <a:endParaRPr lang="ru-RU" dirty="0"/>
          </a:p>
        </p:txBody>
      </p:sp>
      <p:cxnSp>
        <p:nvCxnSpPr>
          <p:cNvPr id="70" name="Прямая со стрелкой 69"/>
          <p:cNvCxnSpPr/>
          <p:nvPr/>
        </p:nvCxnSpPr>
        <p:spPr>
          <a:xfrm flipV="1">
            <a:off x="1769226" y="1666072"/>
            <a:ext cx="982639" cy="583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Прямая со стрелкой 70"/>
          <p:cNvCxnSpPr/>
          <p:nvPr/>
        </p:nvCxnSpPr>
        <p:spPr>
          <a:xfrm>
            <a:off x="3995902" y="1729546"/>
            <a:ext cx="709684" cy="453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Прямая со стрелкой 71"/>
          <p:cNvCxnSpPr/>
          <p:nvPr/>
        </p:nvCxnSpPr>
        <p:spPr>
          <a:xfrm>
            <a:off x="2090057" y="2669004"/>
            <a:ext cx="2206172" cy="336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Прямая со стрелкой 72"/>
          <p:cNvCxnSpPr/>
          <p:nvPr/>
        </p:nvCxnSpPr>
        <p:spPr>
          <a:xfrm flipH="1">
            <a:off x="4864082" y="3268963"/>
            <a:ext cx="166958" cy="453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Прямая со стрелкой 73"/>
          <p:cNvCxnSpPr/>
          <p:nvPr/>
        </p:nvCxnSpPr>
        <p:spPr>
          <a:xfrm flipH="1">
            <a:off x="2751865" y="4151085"/>
            <a:ext cx="920249" cy="495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Прямая со стрелкой 74"/>
          <p:cNvCxnSpPr/>
          <p:nvPr/>
        </p:nvCxnSpPr>
        <p:spPr>
          <a:xfrm>
            <a:off x="1475908" y="3088293"/>
            <a:ext cx="293318" cy="5322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76" name="Таблица 75"/>
          <p:cNvGraphicFramePr>
            <a:graphicFrameLocks noGrp="1"/>
          </p:cNvGraphicFramePr>
          <p:nvPr>
            <p:extLst>
              <p:ext uri="{D42A27DB-BD31-4B8C-83A1-F6EECF244321}">
                <p14:modId xmlns:p14="http://schemas.microsoft.com/office/powerpoint/2010/main" val="556919593"/>
              </p:ext>
            </p:extLst>
          </p:nvPr>
        </p:nvGraphicFramePr>
        <p:xfrm>
          <a:off x="6004570" y="843641"/>
          <a:ext cx="5689602" cy="2225040"/>
        </p:xfrm>
        <a:graphic>
          <a:graphicData uri="http://schemas.openxmlformats.org/drawingml/2006/table">
            <a:tbl>
              <a:tblPr firstRow="1" bandRow="1">
                <a:tableStyleId>{5C22544A-7EE6-4342-B048-85BDC9FD1C3A}</a:tableStyleId>
              </a:tblPr>
              <a:tblGrid>
                <a:gridCol w="948267"/>
                <a:gridCol w="948267"/>
                <a:gridCol w="948267"/>
                <a:gridCol w="948267"/>
                <a:gridCol w="948267"/>
                <a:gridCol w="948267"/>
              </a:tblGrid>
              <a:tr h="370840">
                <a:tc>
                  <a:txBody>
                    <a:bodyPr/>
                    <a:lstStyle/>
                    <a:p>
                      <a:endParaRPr lang="ru-RU" dirty="0"/>
                    </a:p>
                  </a:txBody>
                  <a:tcPr/>
                </a:tc>
                <a:tc>
                  <a:txBody>
                    <a:bodyPr/>
                    <a:lstStyle/>
                    <a:p>
                      <a:r>
                        <a:rPr lang="en-US" dirty="0" smtClean="0"/>
                        <a:t>1</a:t>
                      </a:r>
                      <a:endParaRPr lang="ru-RU" dirty="0"/>
                    </a:p>
                  </a:txBody>
                  <a:tcPr/>
                </a:tc>
                <a:tc>
                  <a:txBody>
                    <a:bodyPr/>
                    <a:lstStyle/>
                    <a:p>
                      <a:r>
                        <a:rPr lang="en-US" dirty="0" smtClean="0"/>
                        <a:t>2</a:t>
                      </a:r>
                      <a:endParaRPr lang="ru-RU" dirty="0"/>
                    </a:p>
                  </a:txBody>
                  <a:tcPr/>
                </a:tc>
                <a:tc>
                  <a:txBody>
                    <a:bodyPr/>
                    <a:lstStyle/>
                    <a:p>
                      <a:r>
                        <a:rPr lang="en-US" dirty="0" smtClean="0"/>
                        <a:t>3</a:t>
                      </a:r>
                      <a:endParaRPr lang="ru-RU" dirty="0"/>
                    </a:p>
                  </a:txBody>
                  <a:tcPr/>
                </a:tc>
                <a:tc>
                  <a:txBody>
                    <a:bodyPr/>
                    <a:lstStyle/>
                    <a:p>
                      <a:r>
                        <a:rPr lang="en-US" dirty="0" smtClean="0"/>
                        <a:t>4</a:t>
                      </a:r>
                      <a:endParaRPr lang="ru-RU" dirty="0"/>
                    </a:p>
                  </a:txBody>
                  <a:tcPr/>
                </a:tc>
                <a:tc>
                  <a:txBody>
                    <a:bodyPr/>
                    <a:lstStyle/>
                    <a:p>
                      <a:r>
                        <a:rPr lang="en-US" dirty="0" smtClean="0"/>
                        <a:t>5</a:t>
                      </a:r>
                      <a:endParaRPr lang="ru-RU" dirty="0"/>
                    </a:p>
                  </a:txBody>
                  <a:tcPr/>
                </a:tc>
              </a:tr>
              <a:tr h="370840">
                <a:tc>
                  <a:txBody>
                    <a:bodyPr/>
                    <a:lstStyle/>
                    <a:p>
                      <a:r>
                        <a:rPr lang="en-US" dirty="0" smtClean="0"/>
                        <a:t>1</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c>
                  <a:txBody>
                    <a:bodyPr/>
                    <a:lstStyle/>
                    <a:p>
                      <a:r>
                        <a:rPr lang="en-US" dirty="0" smtClean="0"/>
                        <a:t>0</a:t>
                      </a:r>
                      <a:endParaRPr lang="ru-RU" dirty="0"/>
                    </a:p>
                  </a:txBody>
                  <a:tcPr/>
                </a:tc>
              </a:tr>
              <a:tr h="370840">
                <a:tc>
                  <a:txBody>
                    <a:bodyPr/>
                    <a:lstStyle/>
                    <a:p>
                      <a:r>
                        <a:rPr lang="en-US" dirty="0" smtClean="0"/>
                        <a:t>2</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3</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4</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5</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bl>
          </a:graphicData>
        </a:graphic>
      </p:graphicFrame>
      <p:sp>
        <p:nvSpPr>
          <p:cNvPr id="77" name="Заголовок 27"/>
          <p:cNvSpPr txBox="1">
            <a:spLocks/>
          </p:cNvSpPr>
          <p:nvPr/>
        </p:nvSpPr>
        <p:spPr>
          <a:xfrm>
            <a:off x="6313973" y="230166"/>
            <a:ext cx="5181341" cy="964214"/>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i="1" smtClean="0"/>
              <a:t>Adjacency-matrix</a:t>
            </a:r>
            <a:endParaRPr lang="ru-RU" sz="2800" dirty="0"/>
          </a:p>
        </p:txBody>
      </p:sp>
      <p:sp>
        <p:nvSpPr>
          <p:cNvPr id="78" name="TextBox 77"/>
          <p:cNvSpPr txBox="1"/>
          <p:nvPr/>
        </p:nvSpPr>
        <p:spPr>
          <a:xfrm>
            <a:off x="6610345" y="3198973"/>
            <a:ext cx="3730172" cy="523220"/>
          </a:xfrm>
          <a:prstGeom prst="rect">
            <a:avLst/>
          </a:prstGeom>
          <a:noFill/>
        </p:spPr>
        <p:txBody>
          <a:bodyPr wrap="square" rtlCol="0">
            <a:spAutoFit/>
          </a:bodyPr>
          <a:lstStyle/>
          <a:p>
            <a:r>
              <a:rPr lang="en-US" sz="2800" i="1" dirty="0" smtClean="0"/>
              <a:t>Adjacency-list</a:t>
            </a:r>
            <a:endParaRPr lang="ru-RU" sz="2800" i="1" dirty="0"/>
          </a:p>
        </p:txBody>
      </p:sp>
      <p:graphicFrame>
        <p:nvGraphicFramePr>
          <p:cNvPr id="79" name="Таблица 78"/>
          <p:cNvGraphicFramePr>
            <a:graphicFrameLocks noGrp="1"/>
          </p:cNvGraphicFramePr>
          <p:nvPr>
            <p:extLst>
              <p:ext uri="{D42A27DB-BD31-4B8C-83A1-F6EECF244321}">
                <p14:modId xmlns:p14="http://schemas.microsoft.com/office/powerpoint/2010/main" val="3135854371"/>
              </p:ext>
            </p:extLst>
          </p:nvPr>
        </p:nvGraphicFramePr>
        <p:xfrm>
          <a:off x="6049345" y="3735083"/>
          <a:ext cx="522514" cy="1949340"/>
        </p:xfrm>
        <a:graphic>
          <a:graphicData uri="http://schemas.openxmlformats.org/drawingml/2006/table">
            <a:tbl>
              <a:tblPr firstRow="1" bandRow="1">
                <a:tableStyleId>{5C22544A-7EE6-4342-B048-85BDC9FD1C3A}</a:tableStyleId>
              </a:tblPr>
              <a:tblGrid>
                <a:gridCol w="522514"/>
              </a:tblGrid>
              <a:tr h="389868">
                <a:tc>
                  <a:txBody>
                    <a:bodyPr/>
                    <a:lstStyle/>
                    <a:p>
                      <a:r>
                        <a:rPr lang="en-US" dirty="0" smtClean="0"/>
                        <a:t>1</a:t>
                      </a:r>
                      <a:endParaRPr lang="ru-RU" dirty="0"/>
                    </a:p>
                  </a:txBody>
                  <a:tcPr/>
                </a:tc>
              </a:tr>
              <a:tr h="389868">
                <a:tc>
                  <a:txBody>
                    <a:bodyPr/>
                    <a:lstStyle/>
                    <a:p>
                      <a:r>
                        <a:rPr lang="en-US" dirty="0" smtClean="0"/>
                        <a:t>2</a:t>
                      </a:r>
                      <a:endParaRPr lang="ru-RU" dirty="0"/>
                    </a:p>
                  </a:txBody>
                  <a:tcPr/>
                </a:tc>
              </a:tr>
              <a:tr h="389868">
                <a:tc>
                  <a:txBody>
                    <a:bodyPr/>
                    <a:lstStyle/>
                    <a:p>
                      <a:r>
                        <a:rPr lang="en-US" dirty="0" smtClean="0"/>
                        <a:t>3</a:t>
                      </a:r>
                      <a:endParaRPr lang="ru-RU" dirty="0"/>
                    </a:p>
                  </a:txBody>
                  <a:tcPr/>
                </a:tc>
              </a:tr>
              <a:tr h="389868">
                <a:tc>
                  <a:txBody>
                    <a:bodyPr/>
                    <a:lstStyle/>
                    <a:p>
                      <a:r>
                        <a:rPr lang="en-US" dirty="0" smtClean="0"/>
                        <a:t>4</a:t>
                      </a:r>
                      <a:endParaRPr lang="ru-RU" dirty="0"/>
                    </a:p>
                  </a:txBody>
                  <a:tcPr/>
                </a:tc>
              </a:tr>
              <a:tr h="389868">
                <a:tc>
                  <a:txBody>
                    <a:bodyPr/>
                    <a:lstStyle/>
                    <a:p>
                      <a:r>
                        <a:rPr lang="en-US" dirty="0" smtClean="0"/>
                        <a:t>5</a:t>
                      </a:r>
                      <a:endParaRPr lang="ru-RU" dirty="0"/>
                    </a:p>
                  </a:txBody>
                  <a:tcPr/>
                </a:tc>
              </a:tr>
            </a:tbl>
          </a:graphicData>
        </a:graphic>
      </p:graphicFrame>
      <p:cxnSp>
        <p:nvCxnSpPr>
          <p:cNvPr id="81" name="Прямая со стрелкой 80"/>
          <p:cNvCxnSpPr/>
          <p:nvPr/>
        </p:nvCxnSpPr>
        <p:spPr>
          <a:xfrm>
            <a:off x="6809040" y="3947886"/>
            <a:ext cx="3465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82" name="Таблица 81"/>
          <p:cNvGraphicFramePr>
            <a:graphicFrameLocks noGrp="1"/>
          </p:cNvGraphicFramePr>
          <p:nvPr>
            <p:extLst>
              <p:ext uri="{D42A27DB-BD31-4B8C-83A1-F6EECF244321}">
                <p14:modId xmlns:p14="http://schemas.microsoft.com/office/powerpoint/2010/main" val="3600003513"/>
              </p:ext>
            </p:extLst>
          </p:nvPr>
        </p:nvGraphicFramePr>
        <p:xfrm>
          <a:off x="7402286" y="3725980"/>
          <a:ext cx="493486" cy="402141"/>
        </p:xfrm>
        <a:graphic>
          <a:graphicData uri="http://schemas.openxmlformats.org/drawingml/2006/table">
            <a:tbl>
              <a:tblPr firstRow="1" bandRow="1">
                <a:tableStyleId>{5C22544A-7EE6-4342-B048-85BDC9FD1C3A}</a:tableStyleId>
              </a:tblPr>
              <a:tblGrid>
                <a:gridCol w="493486"/>
              </a:tblGrid>
              <a:tr h="402141">
                <a:tc>
                  <a:txBody>
                    <a:bodyPr/>
                    <a:lstStyle/>
                    <a:p>
                      <a:r>
                        <a:rPr lang="en-US" dirty="0" smtClean="0"/>
                        <a:t>4</a:t>
                      </a:r>
                      <a:endParaRPr lang="ru-RU" dirty="0"/>
                    </a:p>
                  </a:txBody>
                  <a:tcPr/>
                </a:tc>
              </a:tr>
            </a:tbl>
          </a:graphicData>
        </a:graphic>
      </p:graphicFrame>
    </p:spTree>
    <p:extLst>
      <p:ext uri="{BB962C8B-B14F-4D97-AF65-F5344CB8AC3E}">
        <p14:creationId xmlns:p14="http://schemas.microsoft.com/office/powerpoint/2010/main" val="16010245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extBox 50"/>
          <p:cNvSpPr txBox="1"/>
          <p:nvPr/>
        </p:nvSpPr>
        <p:spPr>
          <a:xfrm>
            <a:off x="5031040" y="1586829"/>
            <a:ext cx="3556000" cy="369332"/>
          </a:xfrm>
          <a:prstGeom prst="rect">
            <a:avLst/>
          </a:prstGeom>
          <a:noFill/>
        </p:spPr>
        <p:txBody>
          <a:bodyPr wrap="square" rtlCol="0">
            <a:spAutoFit/>
          </a:bodyPr>
          <a:lstStyle/>
          <a:p>
            <a:r>
              <a:rPr lang="en-US" dirty="0"/>
              <a:t>4</a:t>
            </a:r>
            <a:r>
              <a:rPr lang="en-US" dirty="0" smtClean="0"/>
              <a:t>-&gt;</a:t>
            </a:r>
            <a:r>
              <a:rPr lang="en-US" dirty="0"/>
              <a:t>2</a:t>
            </a:r>
            <a:endParaRPr lang="ru-RU" dirty="0"/>
          </a:p>
        </p:txBody>
      </p:sp>
      <p:sp>
        <p:nvSpPr>
          <p:cNvPr id="52" name="Овал 51"/>
          <p:cNvSpPr/>
          <p:nvPr/>
        </p:nvSpPr>
        <p:spPr>
          <a:xfrm>
            <a:off x="2751865" y="862284"/>
            <a:ext cx="1037229" cy="941696"/>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1</a:t>
            </a:r>
            <a:endParaRPr lang="ru-RU" dirty="0"/>
          </a:p>
        </p:txBody>
      </p:sp>
      <p:sp>
        <p:nvSpPr>
          <p:cNvPr id="53" name="Овал 52"/>
          <p:cNvSpPr/>
          <p:nvPr/>
        </p:nvSpPr>
        <p:spPr>
          <a:xfrm>
            <a:off x="663758" y="2119302"/>
            <a:ext cx="1105468" cy="95534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3</a:t>
            </a:r>
            <a:endParaRPr lang="ru-RU" dirty="0"/>
          </a:p>
        </p:txBody>
      </p:sp>
      <p:sp>
        <p:nvSpPr>
          <p:cNvPr id="54" name="Овал 53"/>
          <p:cNvSpPr/>
          <p:nvPr/>
        </p:nvSpPr>
        <p:spPr>
          <a:xfrm>
            <a:off x="4662694" y="2277118"/>
            <a:ext cx="1091821" cy="96899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endParaRPr lang="ru-RU" dirty="0"/>
          </a:p>
        </p:txBody>
      </p:sp>
      <p:sp>
        <p:nvSpPr>
          <p:cNvPr id="55" name="Овал 54"/>
          <p:cNvSpPr/>
          <p:nvPr/>
        </p:nvSpPr>
        <p:spPr>
          <a:xfrm>
            <a:off x="1475908" y="3675146"/>
            <a:ext cx="1228298" cy="110546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5</a:t>
            </a:r>
            <a:endParaRPr lang="ru-RU" dirty="0"/>
          </a:p>
        </p:txBody>
      </p:sp>
      <p:sp>
        <p:nvSpPr>
          <p:cNvPr id="56" name="Овал 55"/>
          <p:cNvSpPr/>
          <p:nvPr/>
        </p:nvSpPr>
        <p:spPr>
          <a:xfrm>
            <a:off x="3789094" y="3675146"/>
            <a:ext cx="1241946" cy="116006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2</a:t>
            </a:r>
            <a:endParaRPr lang="ru-RU" dirty="0"/>
          </a:p>
        </p:txBody>
      </p:sp>
      <p:cxnSp>
        <p:nvCxnSpPr>
          <p:cNvPr id="57" name="Прямая со стрелкой 56"/>
          <p:cNvCxnSpPr/>
          <p:nvPr/>
        </p:nvCxnSpPr>
        <p:spPr>
          <a:xfrm flipV="1">
            <a:off x="1769226" y="1666072"/>
            <a:ext cx="982639" cy="583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Прямая со стрелкой 57"/>
          <p:cNvCxnSpPr/>
          <p:nvPr/>
        </p:nvCxnSpPr>
        <p:spPr>
          <a:xfrm>
            <a:off x="3995902" y="1729546"/>
            <a:ext cx="709684" cy="453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Прямая со стрелкой 58"/>
          <p:cNvCxnSpPr/>
          <p:nvPr/>
        </p:nvCxnSpPr>
        <p:spPr>
          <a:xfrm>
            <a:off x="2090057" y="2669004"/>
            <a:ext cx="2206172" cy="336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Прямая со стрелкой 59"/>
          <p:cNvCxnSpPr/>
          <p:nvPr/>
        </p:nvCxnSpPr>
        <p:spPr>
          <a:xfrm flipH="1">
            <a:off x="4864082" y="3268963"/>
            <a:ext cx="166958" cy="453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Прямая со стрелкой 60"/>
          <p:cNvCxnSpPr/>
          <p:nvPr/>
        </p:nvCxnSpPr>
        <p:spPr>
          <a:xfrm flipH="1">
            <a:off x="2751865" y="4151085"/>
            <a:ext cx="920249" cy="495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2" name="Прямая со стрелкой 61"/>
          <p:cNvCxnSpPr/>
          <p:nvPr/>
        </p:nvCxnSpPr>
        <p:spPr>
          <a:xfrm>
            <a:off x="1475908" y="3088293"/>
            <a:ext cx="293318" cy="5322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63" name="Таблица 62"/>
          <p:cNvGraphicFramePr>
            <a:graphicFrameLocks noGrp="1"/>
          </p:cNvGraphicFramePr>
          <p:nvPr>
            <p:extLst>
              <p:ext uri="{D42A27DB-BD31-4B8C-83A1-F6EECF244321}">
                <p14:modId xmlns:p14="http://schemas.microsoft.com/office/powerpoint/2010/main" val="3637250398"/>
              </p:ext>
            </p:extLst>
          </p:nvPr>
        </p:nvGraphicFramePr>
        <p:xfrm>
          <a:off x="6004570" y="843641"/>
          <a:ext cx="5689602" cy="2225040"/>
        </p:xfrm>
        <a:graphic>
          <a:graphicData uri="http://schemas.openxmlformats.org/drawingml/2006/table">
            <a:tbl>
              <a:tblPr firstRow="1" bandRow="1">
                <a:tableStyleId>{5C22544A-7EE6-4342-B048-85BDC9FD1C3A}</a:tableStyleId>
              </a:tblPr>
              <a:tblGrid>
                <a:gridCol w="948267"/>
                <a:gridCol w="948267"/>
                <a:gridCol w="948267"/>
                <a:gridCol w="948267"/>
                <a:gridCol w="948267"/>
                <a:gridCol w="948267"/>
              </a:tblGrid>
              <a:tr h="370840">
                <a:tc>
                  <a:txBody>
                    <a:bodyPr/>
                    <a:lstStyle/>
                    <a:p>
                      <a:endParaRPr lang="ru-RU" dirty="0"/>
                    </a:p>
                  </a:txBody>
                  <a:tcPr/>
                </a:tc>
                <a:tc>
                  <a:txBody>
                    <a:bodyPr/>
                    <a:lstStyle/>
                    <a:p>
                      <a:r>
                        <a:rPr lang="en-US" dirty="0" smtClean="0"/>
                        <a:t>1</a:t>
                      </a:r>
                      <a:endParaRPr lang="ru-RU" dirty="0"/>
                    </a:p>
                  </a:txBody>
                  <a:tcPr/>
                </a:tc>
                <a:tc>
                  <a:txBody>
                    <a:bodyPr/>
                    <a:lstStyle/>
                    <a:p>
                      <a:r>
                        <a:rPr lang="en-US" dirty="0" smtClean="0"/>
                        <a:t>2</a:t>
                      </a:r>
                      <a:endParaRPr lang="ru-RU" dirty="0"/>
                    </a:p>
                  </a:txBody>
                  <a:tcPr/>
                </a:tc>
                <a:tc>
                  <a:txBody>
                    <a:bodyPr/>
                    <a:lstStyle/>
                    <a:p>
                      <a:r>
                        <a:rPr lang="en-US" dirty="0" smtClean="0"/>
                        <a:t>3</a:t>
                      </a:r>
                      <a:endParaRPr lang="ru-RU" dirty="0"/>
                    </a:p>
                  </a:txBody>
                  <a:tcPr/>
                </a:tc>
                <a:tc>
                  <a:txBody>
                    <a:bodyPr/>
                    <a:lstStyle/>
                    <a:p>
                      <a:r>
                        <a:rPr lang="en-US" dirty="0" smtClean="0"/>
                        <a:t>4</a:t>
                      </a:r>
                      <a:endParaRPr lang="ru-RU" dirty="0"/>
                    </a:p>
                  </a:txBody>
                  <a:tcPr/>
                </a:tc>
                <a:tc>
                  <a:txBody>
                    <a:bodyPr/>
                    <a:lstStyle/>
                    <a:p>
                      <a:r>
                        <a:rPr lang="en-US" dirty="0" smtClean="0"/>
                        <a:t>5</a:t>
                      </a:r>
                      <a:endParaRPr lang="ru-RU" dirty="0"/>
                    </a:p>
                  </a:txBody>
                  <a:tcPr/>
                </a:tc>
              </a:tr>
              <a:tr h="370840">
                <a:tc>
                  <a:txBody>
                    <a:bodyPr/>
                    <a:lstStyle/>
                    <a:p>
                      <a:r>
                        <a:rPr lang="en-US" dirty="0" smtClean="0"/>
                        <a:t>1</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c>
                  <a:txBody>
                    <a:bodyPr/>
                    <a:lstStyle/>
                    <a:p>
                      <a:r>
                        <a:rPr lang="en-US" dirty="0" smtClean="0"/>
                        <a:t>0</a:t>
                      </a:r>
                      <a:endParaRPr lang="ru-RU" dirty="0"/>
                    </a:p>
                  </a:txBody>
                  <a:tcPr/>
                </a:tc>
              </a:tr>
              <a:tr h="370840">
                <a:tc>
                  <a:txBody>
                    <a:bodyPr/>
                    <a:lstStyle/>
                    <a:p>
                      <a:r>
                        <a:rPr lang="en-US" dirty="0" smtClean="0"/>
                        <a:t>2</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3</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4</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5</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bl>
          </a:graphicData>
        </a:graphic>
      </p:graphicFrame>
      <p:sp>
        <p:nvSpPr>
          <p:cNvPr id="64" name="Заголовок 27"/>
          <p:cNvSpPr txBox="1">
            <a:spLocks/>
          </p:cNvSpPr>
          <p:nvPr/>
        </p:nvSpPr>
        <p:spPr>
          <a:xfrm>
            <a:off x="6313973" y="230166"/>
            <a:ext cx="5181341" cy="964214"/>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i="1" smtClean="0"/>
              <a:t>Adjacency-matrix</a:t>
            </a:r>
            <a:endParaRPr lang="ru-RU" sz="2800" dirty="0"/>
          </a:p>
        </p:txBody>
      </p:sp>
      <p:sp>
        <p:nvSpPr>
          <p:cNvPr id="65" name="TextBox 64"/>
          <p:cNvSpPr txBox="1"/>
          <p:nvPr/>
        </p:nvSpPr>
        <p:spPr>
          <a:xfrm>
            <a:off x="6610345" y="3198973"/>
            <a:ext cx="3730172" cy="523220"/>
          </a:xfrm>
          <a:prstGeom prst="rect">
            <a:avLst/>
          </a:prstGeom>
          <a:noFill/>
        </p:spPr>
        <p:txBody>
          <a:bodyPr wrap="square" rtlCol="0">
            <a:spAutoFit/>
          </a:bodyPr>
          <a:lstStyle/>
          <a:p>
            <a:r>
              <a:rPr lang="en-US" sz="2800" i="1" dirty="0" smtClean="0"/>
              <a:t>Adjacency-list</a:t>
            </a:r>
            <a:endParaRPr lang="ru-RU" sz="2800" i="1" dirty="0"/>
          </a:p>
        </p:txBody>
      </p:sp>
      <p:graphicFrame>
        <p:nvGraphicFramePr>
          <p:cNvPr id="66" name="Таблица 65"/>
          <p:cNvGraphicFramePr>
            <a:graphicFrameLocks noGrp="1"/>
          </p:cNvGraphicFramePr>
          <p:nvPr>
            <p:extLst>
              <p:ext uri="{D42A27DB-BD31-4B8C-83A1-F6EECF244321}">
                <p14:modId xmlns:p14="http://schemas.microsoft.com/office/powerpoint/2010/main" val="2792658457"/>
              </p:ext>
            </p:extLst>
          </p:nvPr>
        </p:nvGraphicFramePr>
        <p:xfrm>
          <a:off x="6049345" y="3735083"/>
          <a:ext cx="522514" cy="1949340"/>
        </p:xfrm>
        <a:graphic>
          <a:graphicData uri="http://schemas.openxmlformats.org/drawingml/2006/table">
            <a:tbl>
              <a:tblPr firstRow="1" bandRow="1">
                <a:tableStyleId>{5C22544A-7EE6-4342-B048-85BDC9FD1C3A}</a:tableStyleId>
              </a:tblPr>
              <a:tblGrid>
                <a:gridCol w="522514"/>
              </a:tblGrid>
              <a:tr h="389868">
                <a:tc>
                  <a:txBody>
                    <a:bodyPr/>
                    <a:lstStyle/>
                    <a:p>
                      <a:r>
                        <a:rPr lang="en-US" dirty="0" smtClean="0"/>
                        <a:t>1</a:t>
                      </a:r>
                      <a:endParaRPr lang="ru-RU" dirty="0"/>
                    </a:p>
                  </a:txBody>
                  <a:tcPr/>
                </a:tc>
              </a:tr>
              <a:tr h="389868">
                <a:tc>
                  <a:txBody>
                    <a:bodyPr/>
                    <a:lstStyle/>
                    <a:p>
                      <a:r>
                        <a:rPr lang="en-US" dirty="0" smtClean="0"/>
                        <a:t>2</a:t>
                      </a:r>
                      <a:endParaRPr lang="ru-RU" dirty="0"/>
                    </a:p>
                  </a:txBody>
                  <a:tcPr/>
                </a:tc>
              </a:tr>
              <a:tr h="389868">
                <a:tc>
                  <a:txBody>
                    <a:bodyPr/>
                    <a:lstStyle/>
                    <a:p>
                      <a:r>
                        <a:rPr lang="en-US" dirty="0" smtClean="0"/>
                        <a:t>3</a:t>
                      </a:r>
                      <a:endParaRPr lang="ru-RU" dirty="0"/>
                    </a:p>
                  </a:txBody>
                  <a:tcPr/>
                </a:tc>
              </a:tr>
              <a:tr h="389868">
                <a:tc>
                  <a:txBody>
                    <a:bodyPr/>
                    <a:lstStyle/>
                    <a:p>
                      <a:r>
                        <a:rPr lang="en-US" dirty="0" smtClean="0"/>
                        <a:t>4</a:t>
                      </a:r>
                      <a:endParaRPr lang="ru-RU" dirty="0"/>
                    </a:p>
                  </a:txBody>
                  <a:tcPr/>
                </a:tc>
              </a:tr>
              <a:tr h="389868">
                <a:tc>
                  <a:txBody>
                    <a:bodyPr/>
                    <a:lstStyle/>
                    <a:p>
                      <a:r>
                        <a:rPr lang="en-US" dirty="0" smtClean="0"/>
                        <a:t>5</a:t>
                      </a:r>
                      <a:endParaRPr lang="ru-RU" dirty="0"/>
                    </a:p>
                  </a:txBody>
                  <a:tcPr/>
                </a:tc>
              </a:tr>
            </a:tbl>
          </a:graphicData>
        </a:graphic>
      </p:graphicFrame>
      <p:cxnSp>
        <p:nvCxnSpPr>
          <p:cNvPr id="67" name="Прямая со стрелкой 66"/>
          <p:cNvCxnSpPr/>
          <p:nvPr/>
        </p:nvCxnSpPr>
        <p:spPr>
          <a:xfrm>
            <a:off x="6809040" y="3947886"/>
            <a:ext cx="3465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68" name="Таблица 67"/>
          <p:cNvGraphicFramePr>
            <a:graphicFrameLocks noGrp="1"/>
          </p:cNvGraphicFramePr>
          <p:nvPr>
            <p:extLst>
              <p:ext uri="{D42A27DB-BD31-4B8C-83A1-F6EECF244321}">
                <p14:modId xmlns:p14="http://schemas.microsoft.com/office/powerpoint/2010/main" val="3455002710"/>
              </p:ext>
            </p:extLst>
          </p:nvPr>
        </p:nvGraphicFramePr>
        <p:xfrm>
          <a:off x="7402286" y="3725980"/>
          <a:ext cx="493486" cy="402141"/>
        </p:xfrm>
        <a:graphic>
          <a:graphicData uri="http://schemas.openxmlformats.org/drawingml/2006/table">
            <a:tbl>
              <a:tblPr firstRow="1" bandRow="1">
                <a:tableStyleId>{5C22544A-7EE6-4342-B048-85BDC9FD1C3A}</a:tableStyleId>
              </a:tblPr>
              <a:tblGrid>
                <a:gridCol w="493486"/>
              </a:tblGrid>
              <a:tr h="402141">
                <a:tc>
                  <a:txBody>
                    <a:bodyPr/>
                    <a:lstStyle/>
                    <a:p>
                      <a:r>
                        <a:rPr lang="en-US" dirty="0" smtClean="0"/>
                        <a:t>4</a:t>
                      </a:r>
                      <a:endParaRPr lang="ru-RU" dirty="0"/>
                    </a:p>
                  </a:txBody>
                  <a:tcPr/>
                </a:tc>
              </a:tr>
            </a:tbl>
          </a:graphicData>
        </a:graphic>
      </p:graphicFrame>
      <p:cxnSp>
        <p:nvCxnSpPr>
          <p:cNvPr id="70" name="Прямая со стрелкой 69"/>
          <p:cNvCxnSpPr/>
          <p:nvPr/>
        </p:nvCxnSpPr>
        <p:spPr>
          <a:xfrm>
            <a:off x="6809040" y="5109029"/>
            <a:ext cx="4481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1" name="Прямоугольник 70"/>
          <p:cNvSpPr/>
          <p:nvPr/>
        </p:nvSpPr>
        <p:spPr>
          <a:xfrm>
            <a:off x="7373256" y="4927600"/>
            <a:ext cx="464457" cy="3628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2</a:t>
            </a:r>
            <a:endParaRPr lang="ru-RU" dirty="0"/>
          </a:p>
        </p:txBody>
      </p:sp>
    </p:spTree>
    <p:extLst>
      <p:ext uri="{BB962C8B-B14F-4D97-AF65-F5344CB8AC3E}">
        <p14:creationId xmlns:p14="http://schemas.microsoft.com/office/powerpoint/2010/main" val="34400147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TextBox 38"/>
          <p:cNvSpPr txBox="1"/>
          <p:nvPr/>
        </p:nvSpPr>
        <p:spPr>
          <a:xfrm>
            <a:off x="5031040" y="1586829"/>
            <a:ext cx="3556000" cy="369332"/>
          </a:xfrm>
          <a:prstGeom prst="rect">
            <a:avLst/>
          </a:prstGeom>
          <a:noFill/>
        </p:spPr>
        <p:txBody>
          <a:bodyPr wrap="square" rtlCol="0">
            <a:spAutoFit/>
          </a:bodyPr>
          <a:lstStyle/>
          <a:p>
            <a:r>
              <a:rPr lang="en-US" dirty="0" smtClean="0"/>
              <a:t>2-&gt;5</a:t>
            </a:r>
            <a:endParaRPr lang="ru-RU" dirty="0"/>
          </a:p>
        </p:txBody>
      </p:sp>
      <p:sp>
        <p:nvSpPr>
          <p:cNvPr id="40" name="Овал 39"/>
          <p:cNvSpPr/>
          <p:nvPr/>
        </p:nvSpPr>
        <p:spPr>
          <a:xfrm>
            <a:off x="2751865" y="862284"/>
            <a:ext cx="1037229" cy="941696"/>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1</a:t>
            </a:r>
            <a:endParaRPr lang="ru-RU" dirty="0"/>
          </a:p>
        </p:txBody>
      </p:sp>
      <p:sp>
        <p:nvSpPr>
          <p:cNvPr id="41" name="Овал 40"/>
          <p:cNvSpPr/>
          <p:nvPr/>
        </p:nvSpPr>
        <p:spPr>
          <a:xfrm>
            <a:off x="663758" y="2119302"/>
            <a:ext cx="1105468" cy="95534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3</a:t>
            </a:r>
            <a:endParaRPr lang="ru-RU" dirty="0"/>
          </a:p>
        </p:txBody>
      </p:sp>
      <p:sp>
        <p:nvSpPr>
          <p:cNvPr id="42" name="Овал 41"/>
          <p:cNvSpPr/>
          <p:nvPr/>
        </p:nvSpPr>
        <p:spPr>
          <a:xfrm>
            <a:off x="4662694" y="2277118"/>
            <a:ext cx="1091821" cy="96899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endParaRPr lang="ru-RU" dirty="0"/>
          </a:p>
        </p:txBody>
      </p:sp>
      <p:sp>
        <p:nvSpPr>
          <p:cNvPr id="43" name="Овал 42"/>
          <p:cNvSpPr/>
          <p:nvPr/>
        </p:nvSpPr>
        <p:spPr>
          <a:xfrm>
            <a:off x="1475908" y="3675146"/>
            <a:ext cx="1228298" cy="110546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5</a:t>
            </a:r>
            <a:endParaRPr lang="ru-RU" dirty="0"/>
          </a:p>
        </p:txBody>
      </p:sp>
      <p:sp>
        <p:nvSpPr>
          <p:cNvPr id="44" name="Овал 43"/>
          <p:cNvSpPr/>
          <p:nvPr/>
        </p:nvSpPr>
        <p:spPr>
          <a:xfrm>
            <a:off x="3789094" y="3675146"/>
            <a:ext cx="1241946" cy="116006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2</a:t>
            </a:r>
            <a:endParaRPr lang="ru-RU" dirty="0"/>
          </a:p>
        </p:txBody>
      </p:sp>
      <p:cxnSp>
        <p:nvCxnSpPr>
          <p:cNvPr id="45" name="Прямая со стрелкой 44"/>
          <p:cNvCxnSpPr/>
          <p:nvPr/>
        </p:nvCxnSpPr>
        <p:spPr>
          <a:xfrm flipV="1">
            <a:off x="1769226" y="1666072"/>
            <a:ext cx="982639" cy="583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Прямая со стрелкой 45"/>
          <p:cNvCxnSpPr/>
          <p:nvPr/>
        </p:nvCxnSpPr>
        <p:spPr>
          <a:xfrm>
            <a:off x="3995902" y="1729546"/>
            <a:ext cx="709684" cy="453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Прямая со стрелкой 46"/>
          <p:cNvCxnSpPr/>
          <p:nvPr/>
        </p:nvCxnSpPr>
        <p:spPr>
          <a:xfrm>
            <a:off x="2090057" y="2669004"/>
            <a:ext cx="2206172" cy="336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Прямая со стрелкой 47"/>
          <p:cNvCxnSpPr/>
          <p:nvPr/>
        </p:nvCxnSpPr>
        <p:spPr>
          <a:xfrm flipH="1">
            <a:off x="4864082" y="3268963"/>
            <a:ext cx="166958" cy="453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Прямая со стрелкой 48"/>
          <p:cNvCxnSpPr/>
          <p:nvPr/>
        </p:nvCxnSpPr>
        <p:spPr>
          <a:xfrm flipH="1">
            <a:off x="2751865" y="4151085"/>
            <a:ext cx="920249" cy="495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Прямая со стрелкой 49"/>
          <p:cNvCxnSpPr/>
          <p:nvPr/>
        </p:nvCxnSpPr>
        <p:spPr>
          <a:xfrm>
            <a:off x="1475908" y="3088293"/>
            <a:ext cx="293318" cy="5322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51" name="Таблица 50"/>
          <p:cNvGraphicFramePr>
            <a:graphicFrameLocks noGrp="1"/>
          </p:cNvGraphicFramePr>
          <p:nvPr>
            <p:extLst>
              <p:ext uri="{D42A27DB-BD31-4B8C-83A1-F6EECF244321}">
                <p14:modId xmlns:p14="http://schemas.microsoft.com/office/powerpoint/2010/main" val="1631214570"/>
              </p:ext>
            </p:extLst>
          </p:nvPr>
        </p:nvGraphicFramePr>
        <p:xfrm>
          <a:off x="6004570" y="843641"/>
          <a:ext cx="5689602" cy="2225040"/>
        </p:xfrm>
        <a:graphic>
          <a:graphicData uri="http://schemas.openxmlformats.org/drawingml/2006/table">
            <a:tbl>
              <a:tblPr firstRow="1" bandRow="1">
                <a:tableStyleId>{5C22544A-7EE6-4342-B048-85BDC9FD1C3A}</a:tableStyleId>
              </a:tblPr>
              <a:tblGrid>
                <a:gridCol w="948267"/>
                <a:gridCol w="948267"/>
                <a:gridCol w="948267"/>
                <a:gridCol w="948267"/>
                <a:gridCol w="948267"/>
                <a:gridCol w="948267"/>
              </a:tblGrid>
              <a:tr h="370840">
                <a:tc>
                  <a:txBody>
                    <a:bodyPr/>
                    <a:lstStyle/>
                    <a:p>
                      <a:endParaRPr lang="ru-RU" dirty="0"/>
                    </a:p>
                  </a:txBody>
                  <a:tcPr/>
                </a:tc>
                <a:tc>
                  <a:txBody>
                    <a:bodyPr/>
                    <a:lstStyle/>
                    <a:p>
                      <a:r>
                        <a:rPr lang="en-US" dirty="0" smtClean="0"/>
                        <a:t>1</a:t>
                      </a:r>
                      <a:endParaRPr lang="ru-RU" dirty="0"/>
                    </a:p>
                  </a:txBody>
                  <a:tcPr/>
                </a:tc>
                <a:tc>
                  <a:txBody>
                    <a:bodyPr/>
                    <a:lstStyle/>
                    <a:p>
                      <a:r>
                        <a:rPr lang="en-US" dirty="0" smtClean="0"/>
                        <a:t>2</a:t>
                      </a:r>
                      <a:endParaRPr lang="ru-RU" dirty="0"/>
                    </a:p>
                  </a:txBody>
                  <a:tcPr/>
                </a:tc>
                <a:tc>
                  <a:txBody>
                    <a:bodyPr/>
                    <a:lstStyle/>
                    <a:p>
                      <a:r>
                        <a:rPr lang="en-US" dirty="0" smtClean="0"/>
                        <a:t>3</a:t>
                      </a:r>
                      <a:endParaRPr lang="ru-RU" dirty="0"/>
                    </a:p>
                  </a:txBody>
                  <a:tcPr/>
                </a:tc>
                <a:tc>
                  <a:txBody>
                    <a:bodyPr/>
                    <a:lstStyle/>
                    <a:p>
                      <a:r>
                        <a:rPr lang="en-US" dirty="0" smtClean="0"/>
                        <a:t>4</a:t>
                      </a:r>
                      <a:endParaRPr lang="ru-RU" dirty="0"/>
                    </a:p>
                  </a:txBody>
                  <a:tcPr/>
                </a:tc>
                <a:tc>
                  <a:txBody>
                    <a:bodyPr/>
                    <a:lstStyle/>
                    <a:p>
                      <a:r>
                        <a:rPr lang="en-US" dirty="0" smtClean="0"/>
                        <a:t>5</a:t>
                      </a:r>
                      <a:endParaRPr lang="ru-RU" dirty="0"/>
                    </a:p>
                  </a:txBody>
                  <a:tcPr/>
                </a:tc>
              </a:tr>
              <a:tr h="370840">
                <a:tc>
                  <a:txBody>
                    <a:bodyPr/>
                    <a:lstStyle/>
                    <a:p>
                      <a:r>
                        <a:rPr lang="en-US" dirty="0" smtClean="0"/>
                        <a:t>1</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c>
                  <a:txBody>
                    <a:bodyPr/>
                    <a:lstStyle/>
                    <a:p>
                      <a:r>
                        <a:rPr lang="en-US" dirty="0" smtClean="0"/>
                        <a:t>0</a:t>
                      </a:r>
                      <a:endParaRPr lang="ru-RU" dirty="0"/>
                    </a:p>
                  </a:txBody>
                  <a:tcPr/>
                </a:tc>
              </a:tr>
              <a:tr h="370840">
                <a:tc>
                  <a:txBody>
                    <a:bodyPr/>
                    <a:lstStyle/>
                    <a:p>
                      <a:r>
                        <a:rPr lang="en-US" dirty="0" smtClean="0"/>
                        <a:t>2</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r>
              <a:tr h="370840">
                <a:tc>
                  <a:txBody>
                    <a:bodyPr/>
                    <a:lstStyle/>
                    <a:p>
                      <a:r>
                        <a:rPr lang="en-US" dirty="0" smtClean="0"/>
                        <a:t>3</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4</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5</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bl>
          </a:graphicData>
        </a:graphic>
      </p:graphicFrame>
      <p:sp>
        <p:nvSpPr>
          <p:cNvPr id="52" name="Заголовок 27"/>
          <p:cNvSpPr txBox="1">
            <a:spLocks/>
          </p:cNvSpPr>
          <p:nvPr/>
        </p:nvSpPr>
        <p:spPr>
          <a:xfrm>
            <a:off x="6313973" y="230166"/>
            <a:ext cx="5181341" cy="964214"/>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i="1" smtClean="0"/>
              <a:t>Adjacency-matrix</a:t>
            </a:r>
            <a:endParaRPr lang="ru-RU" sz="2800" dirty="0"/>
          </a:p>
        </p:txBody>
      </p:sp>
      <p:sp>
        <p:nvSpPr>
          <p:cNvPr id="53" name="TextBox 52"/>
          <p:cNvSpPr txBox="1"/>
          <p:nvPr/>
        </p:nvSpPr>
        <p:spPr>
          <a:xfrm>
            <a:off x="6610345" y="3198973"/>
            <a:ext cx="3730172" cy="523220"/>
          </a:xfrm>
          <a:prstGeom prst="rect">
            <a:avLst/>
          </a:prstGeom>
          <a:noFill/>
        </p:spPr>
        <p:txBody>
          <a:bodyPr wrap="square" rtlCol="0">
            <a:spAutoFit/>
          </a:bodyPr>
          <a:lstStyle/>
          <a:p>
            <a:r>
              <a:rPr lang="en-US" sz="2800" i="1" dirty="0" smtClean="0"/>
              <a:t>Adjacency-list</a:t>
            </a:r>
            <a:endParaRPr lang="ru-RU" sz="2800" i="1" dirty="0"/>
          </a:p>
        </p:txBody>
      </p:sp>
      <p:graphicFrame>
        <p:nvGraphicFramePr>
          <p:cNvPr id="54" name="Таблица 53"/>
          <p:cNvGraphicFramePr>
            <a:graphicFrameLocks noGrp="1"/>
          </p:cNvGraphicFramePr>
          <p:nvPr>
            <p:extLst>
              <p:ext uri="{D42A27DB-BD31-4B8C-83A1-F6EECF244321}">
                <p14:modId xmlns:p14="http://schemas.microsoft.com/office/powerpoint/2010/main" val="862445188"/>
              </p:ext>
            </p:extLst>
          </p:nvPr>
        </p:nvGraphicFramePr>
        <p:xfrm>
          <a:off x="6049345" y="3735083"/>
          <a:ext cx="522514" cy="1949340"/>
        </p:xfrm>
        <a:graphic>
          <a:graphicData uri="http://schemas.openxmlformats.org/drawingml/2006/table">
            <a:tbl>
              <a:tblPr firstRow="1" bandRow="1">
                <a:tableStyleId>{5C22544A-7EE6-4342-B048-85BDC9FD1C3A}</a:tableStyleId>
              </a:tblPr>
              <a:tblGrid>
                <a:gridCol w="522514"/>
              </a:tblGrid>
              <a:tr h="389868">
                <a:tc>
                  <a:txBody>
                    <a:bodyPr/>
                    <a:lstStyle/>
                    <a:p>
                      <a:r>
                        <a:rPr lang="en-US" dirty="0" smtClean="0"/>
                        <a:t>1</a:t>
                      </a:r>
                      <a:endParaRPr lang="ru-RU" dirty="0"/>
                    </a:p>
                  </a:txBody>
                  <a:tcPr/>
                </a:tc>
              </a:tr>
              <a:tr h="389868">
                <a:tc>
                  <a:txBody>
                    <a:bodyPr/>
                    <a:lstStyle/>
                    <a:p>
                      <a:r>
                        <a:rPr lang="en-US" dirty="0" smtClean="0"/>
                        <a:t>2</a:t>
                      </a:r>
                      <a:endParaRPr lang="ru-RU" dirty="0"/>
                    </a:p>
                  </a:txBody>
                  <a:tcPr/>
                </a:tc>
              </a:tr>
              <a:tr h="389868">
                <a:tc>
                  <a:txBody>
                    <a:bodyPr/>
                    <a:lstStyle/>
                    <a:p>
                      <a:r>
                        <a:rPr lang="en-US" dirty="0" smtClean="0"/>
                        <a:t>3</a:t>
                      </a:r>
                      <a:endParaRPr lang="ru-RU" dirty="0"/>
                    </a:p>
                  </a:txBody>
                  <a:tcPr/>
                </a:tc>
              </a:tr>
              <a:tr h="389868">
                <a:tc>
                  <a:txBody>
                    <a:bodyPr/>
                    <a:lstStyle/>
                    <a:p>
                      <a:r>
                        <a:rPr lang="en-US" dirty="0" smtClean="0"/>
                        <a:t>4</a:t>
                      </a:r>
                      <a:endParaRPr lang="ru-RU" dirty="0"/>
                    </a:p>
                  </a:txBody>
                  <a:tcPr/>
                </a:tc>
              </a:tr>
              <a:tr h="389868">
                <a:tc>
                  <a:txBody>
                    <a:bodyPr/>
                    <a:lstStyle/>
                    <a:p>
                      <a:r>
                        <a:rPr lang="en-US" dirty="0" smtClean="0"/>
                        <a:t>5</a:t>
                      </a:r>
                      <a:endParaRPr lang="ru-RU" dirty="0"/>
                    </a:p>
                  </a:txBody>
                  <a:tcPr/>
                </a:tc>
              </a:tr>
            </a:tbl>
          </a:graphicData>
        </a:graphic>
      </p:graphicFrame>
      <p:cxnSp>
        <p:nvCxnSpPr>
          <p:cNvPr id="55" name="Прямая со стрелкой 54"/>
          <p:cNvCxnSpPr/>
          <p:nvPr/>
        </p:nvCxnSpPr>
        <p:spPr>
          <a:xfrm>
            <a:off x="6809040" y="3947886"/>
            <a:ext cx="4481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56" name="Таблица 55"/>
          <p:cNvGraphicFramePr>
            <a:graphicFrameLocks noGrp="1"/>
          </p:cNvGraphicFramePr>
          <p:nvPr>
            <p:extLst>
              <p:ext uri="{D42A27DB-BD31-4B8C-83A1-F6EECF244321}">
                <p14:modId xmlns:p14="http://schemas.microsoft.com/office/powerpoint/2010/main" val="1016346574"/>
              </p:ext>
            </p:extLst>
          </p:nvPr>
        </p:nvGraphicFramePr>
        <p:xfrm>
          <a:off x="7402286" y="3725980"/>
          <a:ext cx="493486" cy="850210"/>
        </p:xfrm>
        <a:graphic>
          <a:graphicData uri="http://schemas.openxmlformats.org/drawingml/2006/table">
            <a:tbl>
              <a:tblPr firstRow="1" bandRow="1">
                <a:tableStyleId>{5C22544A-7EE6-4342-B048-85BDC9FD1C3A}</a:tableStyleId>
              </a:tblPr>
              <a:tblGrid>
                <a:gridCol w="493486"/>
              </a:tblGrid>
              <a:tr h="425105">
                <a:tc>
                  <a:txBody>
                    <a:bodyPr/>
                    <a:lstStyle/>
                    <a:p>
                      <a:r>
                        <a:rPr lang="en-US" dirty="0" smtClean="0"/>
                        <a:t>4</a:t>
                      </a:r>
                      <a:endParaRPr lang="ru-RU" dirty="0"/>
                    </a:p>
                  </a:txBody>
                  <a:tcPr/>
                </a:tc>
              </a:tr>
              <a:tr h="425105">
                <a:tc>
                  <a:txBody>
                    <a:bodyPr/>
                    <a:lstStyle/>
                    <a:p>
                      <a:r>
                        <a:rPr lang="en-US" dirty="0" smtClean="0"/>
                        <a:t>5</a:t>
                      </a:r>
                      <a:endParaRPr lang="ru-RU" dirty="0"/>
                    </a:p>
                  </a:txBody>
                  <a:tcPr/>
                </a:tc>
              </a:tr>
            </a:tbl>
          </a:graphicData>
        </a:graphic>
      </p:graphicFrame>
      <p:cxnSp>
        <p:nvCxnSpPr>
          <p:cNvPr id="57" name="Прямая со стрелкой 56"/>
          <p:cNvCxnSpPr/>
          <p:nvPr/>
        </p:nvCxnSpPr>
        <p:spPr>
          <a:xfrm>
            <a:off x="6809040" y="5109029"/>
            <a:ext cx="4481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Прямоугольник 57"/>
          <p:cNvSpPr/>
          <p:nvPr/>
        </p:nvSpPr>
        <p:spPr>
          <a:xfrm>
            <a:off x="7373256" y="4927600"/>
            <a:ext cx="464457" cy="3628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2</a:t>
            </a:r>
            <a:endParaRPr lang="ru-RU" dirty="0"/>
          </a:p>
        </p:txBody>
      </p:sp>
      <p:cxnSp>
        <p:nvCxnSpPr>
          <p:cNvPr id="60" name="Прямая со стрелкой 59"/>
          <p:cNvCxnSpPr/>
          <p:nvPr/>
        </p:nvCxnSpPr>
        <p:spPr>
          <a:xfrm>
            <a:off x="6809040" y="4325257"/>
            <a:ext cx="448103" cy="14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37344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TextBox 40"/>
          <p:cNvSpPr txBox="1"/>
          <p:nvPr/>
        </p:nvSpPr>
        <p:spPr>
          <a:xfrm>
            <a:off x="5031040" y="1586829"/>
            <a:ext cx="3556000" cy="369332"/>
          </a:xfrm>
          <a:prstGeom prst="rect">
            <a:avLst/>
          </a:prstGeom>
          <a:noFill/>
        </p:spPr>
        <p:txBody>
          <a:bodyPr wrap="square" rtlCol="0">
            <a:spAutoFit/>
          </a:bodyPr>
          <a:lstStyle/>
          <a:p>
            <a:r>
              <a:rPr lang="en-US" dirty="0" smtClean="0"/>
              <a:t>3-&gt;5</a:t>
            </a:r>
            <a:endParaRPr lang="ru-RU" dirty="0"/>
          </a:p>
        </p:txBody>
      </p:sp>
      <p:sp>
        <p:nvSpPr>
          <p:cNvPr id="42" name="Овал 41"/>
          <p:cNvSpPr/>
          <p:nvPr/>
        </p:nvSpPr>
        <p:spPr>
          <a:xfrm>
            <a:off x="2751865" y="862284"/>
            <a:ext cx="1037229" cy="941696"/>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1</a:t>
            </a:r>
            <a:endParaRPr lang="ru-RU" dirty="0"/>
          </a:p>
        </p:txBody>
      </p:sp>
      <p:sp>
        <p:nvSpPr>
          <p:cNvPr id="43" name="Овал 42"/>
          <p:cNvSpPr/>
          <p:nvPr/>
        </p:nvSpPr>
        <p:spPr>
          <a:xfrm>
            <a:off x="663758" y="2119302"/>
            <a:ext cx="1105468" cy="95534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3</a:t>
            </a:r>
            <a:endParaRPr lang="ru-RU" dirty="0"/>
          </a:p>
        </p:txBody>
      </p:sp>
      <p:sp>
        <p:nvSpPr>
          <p:cNvPr id="44" name="Овал 43"/>
          <p:cNvSpPr/>
          <p:nvPr/>
        </p:nvSpPr>
        <p:spPr>
          <a:xfrm>
            <a:off x="4662694" y="2277118"/>
            <a:ext cx="1091821" cy="96899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endParaRPr lang="ru-RU" dirty="0"/>
          </a:p>
        </p:txBody>
      </p:sp>
      <p:sp>
        <p:nvSpPr>
          <p:cNvPr id="45" name="Овал 44"/>
          <p:cNvSpPr/>
          <p:nvPr/>
        </p:nvSpPr>
        <p:spPr>
          <a:xfrm>
            <a:off x="1475908" y="3675146"/>
            <a:ext cx="1228298" cy="110546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5</a:t>
            </a:r>
            <a:endParaRPr lang="ru-RU" dirty="0"/>
          </a:p>
        </p:txBody>
      </p:sp>
      <p:sp>
        <p:nvSpPr>
          <p:cNvPr id="46" name="Овал 45"/>
          <p:cNvSpPr/>
          <p:nvPr/>
        </p:nvSpPr>
        <p:spPr>
          <a:xfrm>
            <a:off x="3789094" y="3675146"/>
            <a:ext cx="1241946" cy="116006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2</a:t>
            </a:r>
            <a:endParaRPr lang="ru-RU" dirty="0"/>
          </a:p>
        </p:txBody>
      </p:sp>
      <p:cxnSp>
        <p:nvCxnSpPr>
          <p:cNvPr id="47" name="Прямая со стрелкой 46"/>
          <p:cNvCxnSpPr/>
          <p:nvPr/>
        </p:nvCxnSpPr>
        <p:spPr>
          <a:xfrm flipV="1">
            <a:off x="1769226" y="1666072"/>
            <a:ext cx="982639" cy="583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Прямая со стрелкой 47"/>
          <p:cNvCxnSpPr/>
          <p:nvPr/>
        </p:nvCxnSpPr>
        <p:spPr>
          <a:xfrm>
            <a:off x="3995902" y="1729546"/>
            <a:ext cx="709684" cy="453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Прямая со стрелкой 48"/>
          <p:cNvCxnSpPr/>
          <p:nvPr/>
        </p:nvCxnSpPr>
        <p:spPr>
          <a:xfrm>
            <a:off x="2090057" y="2669004"/>
            <a:ext cx="2206172" cy="336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Прямая со стрелкой 49"/>
          <p:cNvCxnSpPr/>
          <p:nvPr/>
        </p:nvCxnSpPr>
        <p:spPr>
          <a:xfrm flipH="1">
            <a:off x="4864082" y="3268963"/>
            <a:ext cx="166958" cy="453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Прямая со стрелкой 50"/>
          <p:cNvCxnSpPr/>
          <p:nvPr/>
        </p:nvCxnSpPr>
        <p:spPr>
          <a:xfrm flipH="1">
            <a:off x="2751865" y="4151085"/>
            <a:ext cx="920249" cy="495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Прямая со стрелкой 51"/>
          <p:cNvCxnSpPr/>
          <p:nvPr/>
        </p:nvCxnSpPr>
        <p:spPr>
          <a:xfrm>
            <a:off x="1475908" y="3088293"/>
            <a:ext cx="293318" cy="5322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Таблица 52"/>
          <p:cNvGraphicFramePr>
            <a:graphicFrameLocks noGrp="1"/>
          </p:cNvGraphicFramePr>
          <p:nvPr>
            <p:extLst>
              <p:ext uri="{D42A27DB-BD31-4B8C-83A1-F6EECF244321}">
                <p14:modId xmlns:p14="http://schemas.microsoft.com/office/powerpoint/2010/main" val="3016192150"/>
              </p:ext>
            </p:extLst>
          </p:nvPr>
        </p:nvGraphicFramePr>
        <p:xfrm>
          <a:off x="6004570" y="843641"/>
          <a:ext cx="5689602" cy="2225040"/>
        </p:xfrm>
        <a:graphic>
          <a:graphicData uri="http://schemas.openxmlformats.org/drawingml/2006/table">
            <a:tbl>
              <a:tblPr firstRow="1" bandRow="1">
                <a:tableStyleId>{5C22544A-7EE6-4342-B048-85BDC9FD1C3A}</a:tableStyleId>
              </a:tblPr>
              <a:tblGrid>
                <a:gridCol w="948267"/>
                <a:gridCol w="948267"/>
                <a:gridCol w="948267"/>
                <a:gridCol w="948267"/>
                <a:gridCol w="948267"/>
                <a:gridCol w="948267"/>
              </a:tblGrid>
              <a:tr h="370840">
                <a:tc>
                  <a:txBody>
                    <a:bodyPr/>
                    <a:lstStyle/>
                    <a:p>
                      <a:endParaRPr lang="ru-RU" dirty="0"/>
                    </a:p>
                  </a:txBody>
                  <a:tcPr/>
                </a:tc>
                <a:tc>
                  <a:txBody>
                    <a:bodyPr/>
                    <a:lstStyle/>
                    <a:p>
                      <a:r>
                        <a:rPr lang="en-US" dirty="0" smtClean="0"/>
                        <a:t>1</a:t>
                      </a:r>
                      <a:endParaRPr lang="ru-RU" dirty="0"/>
                    </a:p>
                  </a:txBody>
                  <a:tcPr/>
                </a:tc>
                <a:tc>
                  <a:txBody>
                    <a:bodyPr/>
                    <a:lstStyle/>
                    <a:p>
                      <a:r>
                        <a:rPr lang="en-US" dirty="0" smtClean="0"/>
                        <a:t>2</a:t>
                      </a:r>
                      <a:endParaRPr lang="ru-RU" dirty="0"/>
                    </a:p>
                  </a:txBody>
                  <a:tcPr/>
                </a:tc>
                <a:tc>
                  <a:txBody>
                    <a:bodyPr/>
                    <a:lstStyle/>
                    <a:p>
                      <a:r>
                        <a:rPr lang="en-US" dirty="0" smtClean="0"/>
                        <a:t>3</a:t>
                      </a:r>
                      <a:endParaRPr lang="ru-RU" dirty="0"/>
                    </a:p>
                  </a:txBody>
                  <a:tcPr/>
                </a:tc>
                <a:tc>
                  <a:txBody>
                    <a:bodyPr/>
                    <a:lstStyle/>
                    <a:p>
                      <a:r>
                        <a:rPr lang="en-US" dirty="0" smtClean="0"/>
                        <a:t>4</a:t>
                      </a:r>
                      <a:endParaRPr lang="ru-RU" dirty="0"/>
                    </a:p>
                  </a:txBody>
                  <a:tcPr/>
                </a:tc>
                <a:tc>
                  <a:txBody>
                    <a:bodyPr/>
                    <a:lstStyle/>
                    <a:p>
                      <a:r>
                        <a:rPr lang="en-US" dirty="0" smtClean="0"/>
                        <a:t>5</a:t>
                      </a:r>
                      <a:endParaRPr lang="ru-RU" dirty="0"/>
                    </a:p>
                  </a:txBody>
                  <a:tcPr/>
                </a:tc>
              </a:tr>
              <a:tr h="370840">
                <a:tc>
                  <a:txBody>
                    <a:bodyPr/>
                    <a:lstStyle/>
                    <a:p>
                      <a:r>
                        <a:rPr lang="en-US" dirty="0" smtClean="0"/>
                        <a:t>1</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c>
                  <a:txBody>
                    <a:bodyPr/>
                    <a:lstStyle/>
                    <a:p>
                      <a:r>
                        <a:rPr lang="en-US" dirty="0" smtClean="0"/>
                        <a:t>0</a:t>
                      </a:r>
                      <a:endParaRPr lang="ru-RU" dirty="0"/>
                    </a:p>
                  </a:txBody>
                  <a:tcPr/>
                </a:tc>
              </a:tr>
              <a:tr h="370840">
                <a:tc>
                  <a:txBody>
                    <a:bodyPr/>
                    <a:lstStyle/>
                    <a:p>
                      <a:r>
                        <a:rPr lang="en-US" dirty="0" smtClean="0"/>
                        <a:t>2</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r>
              <a:tr h="370840">
                <a:tc>
                  <a:txBody>
                    <a:bodyPr/>
                    <a:lstStyle/>
                    <a:p>
                      <a:r>
                        <a:rPr lang="en-US" dirty="0" smtClean="0"/>
                        <a:t>3</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r>
              <a:tr h="370840">
                <a:tc>
                  <a:txBody>
                    <a:bodyPr/>
                    <a:lstStyle/>
                    <a:p>
                      <a:r>
                        <a:rPr lang="en-US" dirty="0" smtClean="0"/>
                        <a:t>4</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5</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bl>
          </a:graphicData>
        </a:graphic>
      </p:graphicFrame>
      <p:sp>
        <p:nvSpPr>
          <p:cNvPr id="54" name="Заголовок 27"/>
          <p:cNvSpPr txBox="1">
            <a:spLocks/>
          </p:cNvSpPr>
          <p:nvPr/>
        </p:nvSpPr>
        <p:spPr>
          <a:xfrm>
            <a:off x="6313973" y="230166"/>
            <a:ext cx="5181341" cy="964214"/>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i="1" smtClean="0"/>
              <a:t>Adjacency-matrix</a:t>
            </a:r>
            <a:endParaRPr lang="ru-RU" sz="2800" dirty="0"/>
          </a:p>
        </p:txBody>
      </p:sp>
      <p:sp>
        <p:nvSpPr>
          <p:cNvPr id="55" name="TextBox 54"/>
          <p:cNvSpPr txBox="1"/>
          <p:nvPr/>
        </p:nvSpPr>
        <p:spPr>
          <a:xfrm>
            <a:off x="6610345" y="3198973"/>
            <a:ext cx="3730172" cy="523220"/>
          </a:xfrm>
          <a:prstGeom prst="rect">
            <a:avLst/>
          </a:prstGeom>
          <a:noFill/>
        </p:spPr>
        <p:txBody>
          <a:bodyPr wrap="square" rtlCol="0">
            <a:spAutoFit/>
          </a:bodyPr>
          <a:lstStyle/>
          <a:p>
            <a:r>
              <a:rPr lang="en-US" sz="2800" i="1" dirty="0" smtClean="0"/>
              <a:t>Adjacency-list</a:t>
            </a:r>
            <a:endParaRPr lang="ru-RU" sz="2800" i="1" dirty="0"/>
          </a:p>
        </p:txBody>
      </p:sp>
      <p:graphicFrame>
        <p:nvGraphicFramePr>
          <p:cNvPr id="56" name="Таблица 55"/>
          <p:cNvGraphicFramePr>
            <a:graphicFrameLocks noGrp="1"/>
          </p:cNvGraphicFramePr>
          <p:nvPr>
            <p:extLst>
              <p:ext uri="{D42A27DB-BD31-4B8C-83A1-F6EECF244321}">
                <p14:modId xmlns:p14="http://schemas.microsoft.com/office/powerpoint/2010/main" val="3950298974"/>
              </p:ext>
            </p:extLst>
          </p:nvPr>
        </p:nvGraphicFramePr>
        <p:xfrm>
          <a:off x="6049345" y="3735083"/>
          <a:ext cx="522514" cy="1949340"/>
        </p:xfrm>
        <a:graphic>
          <a:graphicData uri="http://schemas.openxmlformats.org/drawingml/2006/table">
            <a:tbl>
              <a:tblPr firstRow="1" bandRow="1">
                <a:tableStyleId>{5C22544A-7EE6-4342-B048-85BDC9FD1C3A}</a:tableStyleId>
              </a:tblPr>
              <a:tblGrid>
                <a:gridCol w="522514"/>
              </a:tblGrid>
              <a:tr h="389868">
                <a:tc>
                  <a:txBody>
                    <a:bodyPr/>
                    <a:lstStyle/>
                    <a:p>
                      <a:r>
                        <a:rPr lang="en-US" dirty="0" smtClean="0"/>
                        <a:t>1</a:t>
                      </a:r>
                      <a:endParaRPr lang="ru-RU" dirty="0"/>
                    </a:p>
                  </a:txBody>
                  <a:tcPr/>
                </a:tc>
              </a:tr>
              <a:tr h="389868">
                <a:tc>
                  <a:txBody>
                    <a:bodyPr/>
                    <a:lstStyle/>
                    <a:p>
                      <a:r>
                        <a:rPr lang="en-US" dirty="0" smtClean="0"/>
                        <a:t>2</a:t>
                      </a:r>
                      <a:endParaRPr lang="ru-RU" dirty="0"/>
                    </a:p>
                  </a:txBody>
                  <a:tcPr/>
                </a:tc>
              </a:tr>
              <a:tr h="389868">
                <a:tc>
                  <a:txBody>
                    <a:bodyPr/>
                    <a:lstStyle/>
                    <a:p>
                      <a:r>
                        <a:rPr lang="en-US" dirty="0" smtClean="0"/>
                        <a:t>3</a:t>
                      </a:r>
                      <a:endParaRPr lang="ru-RU" dirty="0"/>
                    </a:p>
                  </a:txBody>
                  <a:tcPr/>
                </a:tc>
              </a:tr>
              <a:tr h="389868">
                <a:tc>
                  <a:txBody>
                    <a:bodyPr/>
                    <a:lstStyle/>
                    <a:p>
                      <a:r>
                        <a:rPr lang="en-US" dirty="0" smtClean="0"/>
                        <a:t>4</a:t>
                      </a:r>
                      <a:endParaRPr lang="ru-RU" dirty="0"/>
                    </a:p>
                  </a:txBody>
                  <a:tcPr/>
                </a:tc>
              </a:tr>
              <a:tr h="389868">
                <a:tc>
                  <a:txBody>
                    <a:bodyPr/>
                    <a:lstStyle/>
                    <a:p>
                      <a:r>
                        <a:rPr lang="en-US" dirty="0" smtClean="0"/>
                        <a:t>5</a:t>
                      </a:r>
                      <a:endParaRPr lang="ru-RU" dirty="0"/>
                    </a:p>
                  </a:txBody>
                  <a:tcPr/>
                </a:tc>
              </a:tr>
            </a:tbl>
          </a:graphicData>
        </a:graphic>
      </p:graphicFrame>
      <p:cxnSp>
        <p:nvCxnSpPr>
          <p:cNvPr id="57" name="Прямая со стрелкой 56"/>
          <p:cNvCxnSpPr/>
          <p:nvPr/>
        </p:nvCxnSpPr>
        <p:spPr>
          <a:xfrm>
            <a:off x="6809040" y="3947886"/>
            <a:ext cx="4481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58" name="Таблица 57"/>
          <p:cNvGraphicFramePr>
            <a:graphicFrameLocks noGrp="1"/>
          </p:cNvGraphicFramePr>
          <p:nvPr>
            <p:extLst>
              <p:ext uri="{D42A27DB-BD31-4B8C-83A1-F6EECF244321}">
                <p14:modId xmlns:p14="http://schemas.microsoft.com/office/powerpoint/2010/main" val="3807767623"/>
              </p:ext>
            </p:extLst>
          </p:nvPr>
        </p:nvGraphicFramePr>
        <p:xfrm>
          <a:off x="7402286" y="3725980"/>
          <a:ext cx="493486" cy="1275315"/>
        </p:xfrm>
        <a:graphic>
          <a:graphicData uri="http://schemas.openxmlformats.org/drawingml/2006/table">
            <a:tbl>
              <a:tblPr firstRow="1" bandRow="1">
                <a:tableStyleId>{5C22544A-7EE6-4342-B048-85BDC9FD1C3A}</a:tableStyleId>
              </a:tblPr>
              <a:tblGrid>
                <a:gridCol w="493486"/>
              </a:tblGrid>
              <a:tr h="425105">
                <a:tc>
                  <a:txBody>
                    <a:bodyPr/>
                    <a:lstStyle/>
                    <a:p>
                      <a:r>
                        <a:rPr lang="en-US" dirty="0" smtClean="0"/>
                        <a:t>4</a:t>
                      </a:r>
                      <a:endParaRPr lang="ru-RU" dirty="0"/>
                    </a:p>
                  </a:txBody>
                  <a:tcPr/>
                </a:tc>
              </a:tr>
              <a:tr h="425105">
                <a:tc>
                  <a:txBody>
                    <a:bodyPr/>
                    <a:lstStyle/>
                    <a:p>
                      <a:r>
                        <a:rPr lang="en-US" dirty="0" smtClean="0"/>
                        <a:t>5</a:t>
                      </a:r>
                      <a:endParaRPr lang="ru-RU" dirty="0"/>
                    </a:p>
                  </a:txBody>
                  <a:tcPr/>
                </a:tc>
              </a:tr>
              <a:tr h="425105">
                <a:tc>
                  <a:txBody>
                    <a:bodyPr/>
                    <a:lstStyle/>
                    <a:p>
                      <a:r>
                        <a:rPr lang="en-US" dirty="0" smtClean="0"/>
                        <a:t>5</a:t>
                      </a:r>
                      <a:endParaRPr lang="ru-RU" dirty="0"/>
                    </a:p>
                  </a:txBody>
                  <a:tcPr/>
                </a:tc>
              </a:tr>
            </a:tbl>
          </a:graphicData>
        </a:graphic>
      </p:graphicFrame>
      <p:cxnSp>
        <p:nvCxnSpPr>
          <p:cNvPr id="59" name="Прямая со стрелкой 58"/>
          <p:cNvCxnSpPr/>
          <p:nvPr/>
        </p:nvCxnSpPr>
        <p:spPr>
          <a:xfrm>
            <a:off x="6809040" y="5109029"/>
            <a:ext cx="4481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Прямоугольник 59"/>
          <p:cNvSpPr/>
          <p:nvPr/>
        </p:nvSpPr>
        <p:spPr>
          <a:xfrm>
            <a:off x="7402285" y="4965005"/>
            <a:ext cx="464457" cy="3628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2</a:t>
            </a:r>
            <a:endParaRPr lang="ru-RU" dirty="0"/>
          </a:p>
        </p:txBody>
      </p:sp>
      <p:cxnSp>
        <p:nvCxnSpPr>
          <p:cNvPr id="61" name="Прямая со стрелкой 60"/>
          <p:cNvCxnSpPr/>
          <p:nvPr/>
        </p:nvCxnSpPr>
        <p:spPr>
          <a:xfrm>
            <a:off x="6809040" y="4325257"/>
            <a:ext cx="448103" cy="14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Прямая со стрелкой 62"/>
          <p:cNvCxnSpPr/>
          <p:nvPr/>
        </p:nvCxnSpPr>
        <p:spPr>
          <a:xfrm>
            <a:off x="6809040" y="4780615"/>
            <a:ext cx="4481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38746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TextBox 39"/>
          <p:cNvSpPr txBox="1"/>
          <p:nvPr/>
        </p:nvSpPr>
        <p:spPr>
          <a:xfrm>
            <a:off x="5031040" y="1586829"/>
            <a:ext cx="3556000" cy="369332"/>
          </a:xfrm>
          <a:prstGeom prst="rect">
            <a:avLst/>
          </a:prstGeom>
          <a:noFill/>
        </p:spPr>
        <p:txBody>
          <a:bodyPr wrap="square" rtlCol="0">
            <a:spAutoFit/>
          </a:bodyPr>
          <a:lstStyle/>
          <a:p>
            <a:r>
              <a:rPr lang="en-US" dirty="0" smtClean="0"/>
              <a:t>3-&gt;1</a:t>
            </a:r>
            <a:endParaRPr lang="ru-RU" dirty="0"/>
          </a:p>
        </p:txBody>
      </p:sp>
      <p:sp>
        <p:nvSpPr>
          <p:cNvPr id="41" name="Овал 40"/>
          <p:cNvSpPr/>
          <p:nvPr/>
        </p:nvSpPr>
        <p:spPr>
          <a:xfrm>
            <a:off x="2751865" y="862284"/>
            <a:ext cx="1037229" cy="941696"/>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1</a:t>
            </a:r>
            <a:endParaRPr lang="ru-RU" dirty="0"/>
          </a:p>
        </p:txBody>
      </p:sp>
      <p:sp>
        <p:nvSpPr>
          <p:cNvPr id="42" name="Овал 41"/>
          <p:cNvSpPr/>
          <p:nvPr/>
        </p:nvSpPr>
        <p:spPr>
          <a:xfrm>
            <a:off x="663758" y="2119302"/>
            <a:ext cx="1105468" cy="95534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3</a:t>
            </a:r>
            <a:endParaRPr lang="ru-RU" dirty="0"/>
          </a:p>
        </p:txBody>
      </p:sp>
      <p:sp>
        <p:nvSpPr>
          <p:cNvPr id="43" name="Овал 42"/>
          <p:cNvSpPr/>
          <p:nvPr/>
        </p:nvSpPr>
        <p:spPr>
          <a:xfrm>
            <a:off x="4662694" y="2277118"/>
            <a:ext cx="1091821" cy="96899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endParaRPr lang="ru-RU" dirty="0"/>
          </a:p>
        </p:txBody>
      </p:sp>
      <p:sp>
        <p:nvSpPr>
          <p:cNvPr id="44" name="Овал 43"/>
          <p:cNvSpPr/>
          <p:nvPr/>
        </p:nvSpPr>
        <p:spPr>
          <a:xfrm>
            <a:off x="1475908" y="3675146"/>
            <a:ext cx="1228298" cy="110546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5</a:t>
            </a:r>
            <a:endParaRPr lang="ru-RU" dirty="0"/>
          </a:p>
        </p:txBody>
      </p:sp>
      <p:sp>
        <p:nvSpPr>
          <p:cNvPr id="45" name="Овал 44"/>
          <p:cNvSpPr/>
          <p:nvPr/>
        </p:nvSpPr>
        <p:spPr>
          <a:xfrm>
            <a:off x="3789094" y="3675146"/>
            <a:ext cx="1241946" cy="116006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2</a:t>
            </a:r>
            <a:endParaRPr lang="ru-RU" dirty="0"/>
          </a:p>
        </p:txBody>
      </p:sp>
      <p:cxnSp>
        <p:nvCxnSpPr>
          <p:cNvPr id="46" name="Прямая со стрелкой 45"/>
          <p:cNvCxnSpPr/>
          <p:nvPr/>
        </p:nvCxnSpPr>
        <p:spPr>
          <a:xfrm flipV="1">
            <a:off x="1769226" y="1666072"/>
            <a:ext cx="982639" cy="583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Прямая со стрелкой 46"/>
          <p:cNvCxnSpPr/>
          <p:nvPr/>
        </p:nvCxnSpPr>
        <p:spPr>
          <a:xfrm>
            <a:off x="3995902" y="1729546"/>
            <a:ext cx="709684" cy="453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Прямая со стрелкой 47"/>
          <p:cNvCxnSpPr/>
          <p:nvPr/>
        </p:nvCxnSpPr>
        <p:spPr>
          <a:xfrm>
            <a:off x="2090057" y="2669004"/>
            <a:ext cx="2206172" cy="336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Прямая со стрелкой 48"/>
          <p:cNvCxnSpPr/>
          <p:nvPr/>
        </p:nvCxnSpPr>
        <p:spPr>
          <a:xfrm flipH="1">
            <a:off x="4864082" y="3268963"/>
            <a:ext cx="166958" cy="453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Прямая со стрелкой 49"/>
          <p:cNvCxnSpPr/>
          <p:nvPr/>
        </p:nvCxnSpPr>
        <p:spPr>
          <a:xfrm flipH="1">
            <a:off x="2751865" y="4151085"/>
            <a:ext cx="920249" cy="495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Прямая со стрелкой 50"/>
          <p:cNvCxnSpPr/>
          <p:nvPr/>
        </p:nvCxnSpPr>
        <p:spPr>
          <a:xfrm>
            <a:off x="1475908" y="3088293"/>
            <a:ext cx="293318" cy="5322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52" name="Таблица 51"/>
          <p:cNvGraphicFramePr>
            <a:graphicFrameLocks noGrp="1"/>
          </p:cNvGraphicFramePr>
          <p:nvPr>
            <p:extLst>
              <p:ext uri="{D42A27DB-BD31-4B8C-83A1-F6EECF244321}">
                <p14:modId xmlns:p14="http://schemas.microsoft.com/office/powerpoint/2010/main" val="1305643855"/>
              </p:ext>
            </p:extLst>
          </p:nvPr>
        </p:nvGraphicFramePr>
        <p:xfrm>
          <a:off x="6004570" y="843641"/>
          <a:ext cx="5689602" cy="2225040"/>
        </p:xfrm>
        <a:graphic>
          <a:graphicData uri="http://schemas.openxmlformats.org/drawingml/2006/table">
            <a:tbl>
              <a:tblPr firstRow="1" bandRow="1">
                <a:tableStyleId>{5C22544A-7EE6-4342-B048-85BDC9FD1C3A}</a:tableStyleId>
              </a:tblPr>
              <a:tblGrid>
                <a:gridCol w="948267"/>
                <a:gridCol w="948267"/>
                <a:gridCol w="948267"/>
                <a:gridCol w="948267"/>
                <a:gridCol w="948267"/>
                <a:gridCol w="948267"/>
              </a:tblGrid>
              <a:tr h="370840">
                <a:tc>
                  <a:txBody>
                    <a:bodyPr/>
                    <a:lstStyle/>
                    <a:p>
                      <a:endParaRPr lang="ru-RU" dirty="0"/>
                    </a:p>
                  </a:txBody>
                  <a:tcPr/>
                </a:tc>
                <a:tc>
                  <a:txBody>
                    <a:bodyPr/>
                    <a:lstStyle/>
                    <a:p>
                      <a:r>
                        <a:rPr lang="en-US" dirty="0" smtClean="0"/>
                        <a:t>1</a:t>
                      </a:r>
                      <a:endParaRPr lang="ru-RU" dirty="0"/>
                    </a:p>
                  </a:txBody>
                  <a:tcPr/>
                </a:tc>
                <a:tc>
                  <a:txBody>
                    <a:bodyPr/>
                    <a:lstStyle/>
                    <a:p>
                      <a:r>
                        <a:rPr lang="en-US" dirty="0" smtClean="0"/>
                        <a:t>2</a:t>
                      </a:r>
                      <a:endParaRPr lang="ru-RU" dirty="0"/>
                    </a:p>
                  </a:txBody>
                  <a:tcPr/>
                </a:tc>
                <a:tc>
                  <a:txBody>
                    <a:bodyPr/>
                    <a:lstStyle/>
                    <a:p>
                      <a:r>
                        <a:rPr lang="en-US" dirty="0" smtClean="0"/>
                        <a:t>3</a:t>
                      </a:r>
                      <a:endParaRPr lang="ru-RU" dirty="0"/>
                    </a:p>
                  </a:txBody>
                  <a:tcPr/>
                </a:tc>
                <a:tc>
                  <a:txBody>
                    <a:bodyPr/>
                    <a:lstStyle/>
                    <a:p>
                      <a:r>
                        <a:rPr lang="en-US" dirty="0" smtClean="0"/>
                        <a:t>4</a:t>
                      </a:r>
                      <a:endParaRPr lang="ru-RU" dirty="0"/>
                    </a:p>
                  </a:txBody>
                  <a:tcPr/>
                </a:tc>
                <a:tc>
                  <a:txBody>
                    <a:bodyPr/>
                    <a:lstStyle/>
                    <a:p>
                      <a:r>
                        <a:rPr lang="en-US" dirty="0" smtClean="0"/>
                        <a:t>5</a:t>
                      </a:r>
                      <a:endParaRPr lang="ru-RU" dirty="0"/>
                    </a:p>
                  </a:txBody>
                  <a:tcPr/>
                </a:tc>
              </a:tr>
              <a:tr h="370840">
                <a:tc>
                  <a:txBody>
                    <a:bodyPr/>
                    <a:lstStyle/>
                    <a:p>
                      <a:r>
                        <a:rPr lang="en-US" dirty="0" smtClean="0"/>
                        <a:t>1</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c>
                  <a:txBody>
                    <a:bodyPr/>
                    <a:lstStyle/>
                    <a:p>
                      <a:r>
                        <a:rPr lang="en-US" dirty="0" smtClean="0"/>
                        <a:t>0</a:t>
                      </a:r>
                      <a:endParaRPr lang="ru-RU" dirty="0"/>
                    </a:p>
                  </a:txBody>
                  <a:tcPr/>
                </a:tc>
              </a:tr>
              <a:tr h="370840">
                <a:tc>
                  <a:txBody>
                    <a:bodyPr/>
                    <a:lstStyle/>
                    <a:p>
                      <a:r>
                        <a:rPr lang="en-US" dirty="0" smtClean="0"/>
                        <a:t>2</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r>
              <a:tr h="370840">
                <a:tc>
                  <a:txBody>
                    <a:bodyPr/>
                    <a:lstStyle/>
                    <a:p>
                      <a:r>
                        <a:rPr lang="en-US" dirty="0" smtClean="0"/>
                        <a:t>3</a:t>
                      </a:r>
                      <a:endParaRPr lang="ru-RU" dirty="0"/>
                    </a:p>
                  </a:txBody>
                  <a:tcPr/>
                </a:tc>
                <a:tc>
                  <a:txBody>
                    <a:bodyPr/>
                    <a:lstStyle/>
                    <a:p>
                      <a:r>
                        <a:rPr lang="en-US" dirty="0" smtClean="0"/>
                        <a:t>1</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r>
              <a:tr h="370840">
                <a:tc>
                  <a:txBody>
                    <a:bodyPr/>
                    <a:lstStyle/>
                    <a:p>
                      <a:r>
                        <a:rPr lang="en-US" dirty="0" smtClean="0"/>
                        <a:t>4</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5</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bl>
          </a:graphicData>
        </a:graphic>
      </p:graphicFrame>
      <p:sp>
        <p:nvSpPr>
          <p:cNvPr id="53" name="Заголовок 27"/>
          <p:cNvSpPr txBox="1">
            <a:spLocks/>
          </p:cNvSpPr>
          <p:nvPr/>
        </p:nvSpPr>
        <p:spPr>
          <a:xfrm>
            <a:off x="6313973" y="230166"/>
            <a:ext cx="5181341" cy="964214"/>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i="1" smtClean="0"/>
              <a:t>Adjacency-matrix</a:t>
            </a:r>
            <a:endParaRPr lang="ru-RU" sz="2800" dirty="0"/>
          </a:p>
        </p:txBody>
      </p:sp>
      <p:sp>
        <p:nvSpPr>
          <p:cNvPr id="54" name="TextBox 53"/>
          <p:cNvSpPr txBox="1"/>
          <p:nvPr/>
        </p:nvSpPr>
        <p:spPr>
          <a:xfrm>
            <a:off x="6610345" y="3198973"/>
            <a:ext cx="3730172" cy="523220"/>
          </a:xfrm>
          <a:prstGeom prst="rect">
            <a:avLst/>
          </a:prstGeom>
          <a:noFill/>
        </p:spPr>
        <p:txBody>
          <a:bodyPr wrap="square" rtlCol="0">
            <a:spAutoFit/>
          </a:bodyPr>
          <a:lstStyle/>
          <a:p>
            <a:r>
              <a:rPr lang="en-US" sz="2800" i="1" dirty="0" smtClean="0"/>
              <a:t>Adjacency-list</a:t>
            </a:r>
            <a:endParaRPr lang="ru-RU" sz="2800" i="1" dirty="0"/>
          </a:p>
        </p:txBody>
      </p:sp>
      <p:graphicFrame>
        <p:nvGraphicFramePr>
          <p:cNvPr id="55" name="Таблица 54"/>
          <p:cNvGraphicFramePr>
            <a:graphicFrameLocks noGrp="1"/>
          </p:cNvGraphicFramePr>
          <p:nvPr>
            <p:extLst>
              <p:ext uri="{D42A27DB-BD31-4B8C-83A1-F6EECF244321}">
                <p14:modId xmlns:p14="http://schemas.microsoft.com/office/powerpoint/2010/main" val="2262895812"/>
              </p:ext>
            </p:extLst>
          </p:nvPr>
        </p:nvGraphicFramePr>
        <p:xfrm>
          <a:off x="6049345" y="3735083"/>
          <a:ext cx="522514" cy="1949340"/>
        </p:xfrm>
        <a:graphic>
          <a:graphicData uri="http://schemas.openxmlformats.org/drawingml/2006/table">
            <a:tbl>
              <a:tblPr firstRow="1" bandRow="1">
                <a:tableStyleId>{5C22544A-7EE6-4342-B048-85BDC9FD1C3A}</a:tableStyleId>
              </a:tblPr>
              <a:tblGrid>
                <a:gridCol w="522514"/>
              </a:tblGrid>
              <a:tr h="389868">
                <a:tc>
                  <a:txBody>
                    <a:bodyPr/>
                    <a:lstStyle/>
                    <a:p>
                      <a:r>
                        <a:rPr lang="en-US" dirty="0" smtClean="0"/>
                        <a:t>1</a:t>
                      </a:r>
                      <a:endParaRPr lang="ru-RU" dirty="0"/>
                    </a:p>
                  </a:txBody>
                  <a:tcPr/>
                </a:tc>
              </a:tr>
              <a:tr h="389868">
                <a:tc>
                  <a:txBody>
                    <a:bodyPr/>
                    <a:lstStyle/>
                    <a:p>
                      <a:r>
                        <a:rPr lang="en-US" dirty="0" smtClean="0"/>
                        <a:t>2</a:t>
                      </a:r>
                      <a:endParaRPr lang="ru-RU" dirty="0"/>
                    </a:p>
                  </a:txBody>
                  <a:tcPr/>
                </a:tc>
              </a:tr>
              <a:tr h="389868">
                <a:tc>
                  <a:txBody>
                    <a:bodyPr/>
                    <a:lstStyle/>
                    <a:p>
                      <a:r>
                        <a:rPr lang="en-US" dirty="0" smtClean="0"/>
                        <a:t>3</a:t>
                      </a:r>
                      <a:endParaRPr lang="ru-RU" dirty="0"/>
                    </a:p>
                  </a:txBody>
                  <a:tcPr/>
                </a:tc>
              </a:tr>
              <a:tr h="389868">
                <a:tc>
                  <a:txBody>
                    <a:bodyPr/>
                    <a:lstStyle/>
                    <a:p>
                      <a:r>
                        <a:rPr lang="en-US" dirty="0" smtClean="0"/>
                        <a:t>4</a:t>
                      </a:r>
                      <a:endParaRPr lang="ru-RU" dirty="0"/>
                    </a:p>
                  </a:txBody>
                  <a:tcPr/>
                </a:tc>
              </a:tr>
              <a:tr h="389868">
                <a:tc>
                  <a:txBody>
                    <a:bodyPr/>
                    <a:lstStyle/>
                    <a:p>
                      <a:r>
                        <a:rPr lang="en-US" dirty="0" smtClean="0"/>
                        <a:t>5</a:t>
                      </a:r>
                      <a:endParaRPr lang="ru-RU" dirty="0"/>
                    </a:p>
                  </a:txBody>
                  <a:tcPr/>
                </a:tc>
              </a:tr>
            </a:tbl>
          </a:graphicData>
        </a:graphic>
      </p:graphicFrame>
      <p:cxnSp>
        <p:nvCxnSpPr>
          <p:cNvPr id="56" name="Прямая со стрелкой 55"/>
          <p:cNvCxnSpPr/>
          <p:nvPr/>
        </p:nvCxnSpPr>
        <p:spPr>
          <a:xfrm>
            <a:off x="6809040" y="3947886"/>
            <a:ext cx="4481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57" name="Таблица 56"/>
          <p:cNvGraphicFramePr>
            <a:graphicFrameLocks noGrp="1"/>
          </p:cNvGraphicFramePr>
          <p:nvPr>
            <p:extLst>
              <p:ext uri="{D42A27DB-BD31-4B8C-83A1-F6EECF244321}">
                <p14:modId xmlns:p14="http://schemas.microsoft.com/office/powerpoint/2010/main" val="1770237113"/>
              </p:ext>
            </p:extLst>
          </p:nvPr>
        </p:nvGraphicFramePr>
        <p:xfrm>
          <a:off x="7402286" y="3725980"/>
          <a:ext cx="493486" cy="1275315"/>
        </p:xfrm>
        <a:graphic>
          <a:graphicData uri="http://schemas.openxmlformats.org/drawingml/2006/table">
            <a:tbl>
              <a:tblPr firstRow="1" bandRow="1">
                <a:tableStyleId>{5C22544A-7EE6-4342-B048-85BDC9FD1C3A}</a:tableStyleId>
              </a:tblPr>
              <a:tblGrid>
                <a:gridCol w="493486"/>
              </a:tblGrid>
              <a:tr h="425105">
                <a:tc>
                  <a:txBody>
                    <a:bodyPr/>
                    <a:lstStyle/>
                    <a:p>
                      <a:r>
                        <a:rPr lang="en-US" dirty="0" smtClean="0"/>
                        <a:t>4</a:t>
                      </a:r>
                      <a:endParaRPr lang="ru-RU" dirty="0"/>
                    </a:p>
                  </a:txBody>
                  <a:tcPr/>
                </a:tc>
              </a:tr>
              <a:tr h="425105">
                <a:tc>
                  <a:txBody>
                    <a:bodyPr/>
                    <a:lstStyle/>
                    <a:p>
                      <a:r>
                        <a:rPr lang="en-US" dirty="0" smtClean="0"/>
                        <a:t>5</a:t>
                      </a:r>
                      <a:endParaRPr lang="ru-RU" dirty="0"/>
                    </a:p>
                  </a:txBody>
                  <a:tcPr/>
                </a:tc>
              </a:tr>
              <a:tr h="425105">
                <a:tc>
                  <a:txBody>
                    <a:bodyPr/>
                    <a:lstStyle/>
                    <a:p>
                      <a:r>
                        <a:rPr lang="en-US" dirty="0" smtClean="0"/>
                        <a:t>5</a:t>
                      </a:r>
                      <a:endParaRPr lang="ru-RU" dirty="0"/>
                    </a:p>
                  </a:txBody>
                  <a:tcPr/>
                </a:tc>
              </a:tr>
            </a:tbl>
          </a:graphicData>
        </a:graphic>
      </p:graphicFrame>
      <p:cxnSp>
        <p:nvCxnSpPr>
          <p:cNvPr id="58" name="Прямая со стрелкой 57"/>
          <p:cNvCxnSpPr/>
          <p:nvPr/>
        </p:nvCxnSpPr>
        <p:spPr>
          <a:xfrm>
            <a:off x="6809040" y="5109029"/>
            <a:ext cx="4481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Прямоугольник 58"/>
          <p:cNvSpPr/>
          <p:nvPr/>
        </p:nvSpPr>
        <p:spPr>
          <a:xfrm>
            <a:off x="7402286" y="4965005"/>
            <a:ext cx="464457" cy="3628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2</a:t>
            </a:r>
            <a:endParaRPr lang="ru-RU" dirty="0"/>
          </a:p>
        </p:txBody>
      </p:sp>
      <p:cxnSp>
        <p:nvCxnSpPr>
          <p:cNvPr id="60" name="Прямая со стрелкой 59"/>
          <p:cNvCxnSpPr/>
          <p:nvPr/>
        </p:nvCxnSpPr>
        <p:spPr>
          <a:xfrm>
            <a:off x="6809040" y="4325257"/>
            <a:ext cx="448103" cy="14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Прямая со стрелкой 60"/>
          <p:cNvCxnSpPr/>
          <p:nvPr/>
        </p:nvCxnSpPr>
        <p:spPr>
          <a:xfrm>
            <a:off x="6809040" y="4780615"/>
            <a:ext cx="4481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2" name="Прямоугольник 61"/>
          <p:cNvSpPr/>
          <p:nvPr/>
        </p:nvSpPr>
        <p:spPr>
          <a:xfrm>
            <a:off x="8475431" y="4601029"/>
            <a:ext cx="429212" cy="3639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1</a:t>
            </a:r>
            <a:endParaRPr lang="ru-RU" dirty="0"/>
          </a:p>
        </p:txBody>
      </p:sp>
      <p:cxnSp>
        <p:nvCxnSpPr>
          <p:cNvPr id="64" name="Прямая со стрелкой 63"/>
          <p:cNvCxnSpPr/>
          <p:nvPr/>
        </p:nvCxnSpPr>
        <p:spPr>
          <a:xfrm>
            <a:off x="8084457" y="4780615"/>
            <a:ext cx="2757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945436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TextBox 42"/>
          <p:cNvSpPr txBox="1"/>
          <p:nvPr/>
        </p:nvSpPr>
        <p:spPr>
          <a:xfrm>
            <a:off x="5031040" y="1586829"/>
            <a:ext cx="3556000" cy="369332"/>
          </a:xfrm>
          <a:prstGeom prst="rect">
            <a:avLst/>
          </a:prstGeom>
          <a:noFill/>
        </p:spPr>
        <p:txBody>
          <a:bodyPr wrap="square" rtlCol="0">
            <a:spAutoFit/>
          </a:bodyPr>
          <a:lstStyle/>
          <a:p>
            <a:r>
              <a:rPr lang="en-US" dirty="0" smtClean="0"/>
              <a:t>3-&gt;4</a:t>
            </a:r>
            <a:endParaRPr lang="ru-RU" dirty="0"/>
          </a:p>
        </p:txBody>
      </p:sp>
      <p:sp>
        <p:nvSpPr>
          <p:cNvPr id="44" name="Овал 43"/>
          <p:cNvSpPr/>
          <p:nvPr/>
        </p:nvSpPr>
        <p:spPr>
          <a:xfrm>
            <a:off x="2751865" y="862284"/>
            <a:ext cx="1037229" cy="941696"/>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1</a:t>
            </a:r>
            <a:endParaRPr lang="ru-RU" dirty="0"/>
          </a:p>
        </p:txBody>
      </p:sp>
      <p:sp>
        <p:nvSpPr>
          <p:cNvPr id="45" name="Овал 44"/>
          <p:cNvSpPr/>
          <p:nvPr/>
        </p:nvSpPr>
        <p:spPr>
          <a:xfrm>
            <a:off x="663758" y="2119302"/>
            <a:ext cx="1105468" cy="95534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3</a:t>
            </a:r>
            <a:endParaRPr lang="ru-RU" dirty="0"/>
          </a:p>
        </p:txBody>
      </p:sp>
      <p:sp>
        <p:nvSpPr>
          <p:cNvPr id="46" name="Овал 45"/>
          <p:cNvSpPr/>
          <p:nvPr/>
        </p:nvSpPr>
        <p:spPr>
          <a:xfrm>
            <a:off x="4662694" y="2277118"/>
            <a:ext cx="1091821" cy="96899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endParaRPr lang="ru-RU" dirty="0"/>
          </a:p>
        </p:txBody>
      </p:sp>
      <p:sp>
        <p:nvSpPr>
          <p:cNvPr id="47" name="Овал 46"/>
          <p:cNvSpPr/>
          <p:nvPr/>
        </p:nvSpPr>
        <p:spPr>
          <a:xfrm>
            <a:off x="1475908" y="3675146"/>
            <a:ext cx="1228298" cy="110546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5</a:t>
            </a:r>
            <a:endParaRPr lang="ru-RU" dirty="0"/>
          </a:p>
        </p:txBody>
      </p:sp>
      <p:sp>
        <p:nvSpPr>
          <p:cNvPr id="48" name="Овал 47"/>
          <p:cNvSpPr/>
          <p:nvPr/>
        </p:nvSpPr>
        <p:spPr>
          <a:xfrm>
            <a:off x="3789094" y="3675146"/>
            <a:ext cx="1241946" cy="116006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2</a:t>
            </a:r>
            <a:endParaRPr lang="ru-RU" dirty="0"/>
          </a:p>
        </p:txBody>
      </p:sp>
      <p:cxnSp>
        <p:nvCxnSpPr>
          <p:cNvPr id="49" name="Прямая со стрелкой 48"/>
          <p:cNvCxnSpPr/>
          <p:nvPr/>
        </p:nvCxnSpPr>
        <p:spPr>
          <a:xfrm flipV="1">
            <a:off x="1769226" y="1666072"/>
            <a:ext cx="982639" cy="583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Прямая со стрелкой 49"/>
          <p:cNvCxnSpPr/>
          <p:nvPr/>
        </p:nvCxnSpPr>
        <p:spPr>
          <a:xfrm>
            <a:off x="3995902" y="1729546"/>
            <a:ext cx="709684" cy="453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Прямая со стрелкой 50"/>
          <p:cNvCxnSpPr/>
          <p:nvPr/>
        </p:nvCxnSpPr>
        <p:spPr>
          <a:xfrm>
            <a:off x="2090057" y="2669004"/>
            <a:ext cx="2206172" cy="336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Прямая со стрелкой 51"/>
          <p:cNvCxnSpPr/>
          <p:nvPr/>
        </p:nvCxnSpPr>
        <p:spPr>
          <a:xfrm flipH="1">
            <a:off x="4864082" y="3268963"/>
            <a:ext cx="166958" cy="453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Прямая со стрелкой 52"/>
          <p:cNvCxnSpPr/>
          <p:nvPr/>
        </p:nvCxnSpPr>
        <p:spPr>
          <a:xfrm flipH="1">
            <a:off x="2751865" y="4151085"/>
            <a:ext cx="920249" cy="495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Прямая со стрелкой 53"/>
          <p:cNvCxnSpPr/>
          <p:nvPr/>
        </p:nvCxnSpPr>
        <p:spPr>
          <a:xfrm>
            <a:off x="1475908" y="3088293"/>
            <a:ext cx="293318" cy="5322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55" name="Таблица 54"/>
          <p:cNvGraphicFramePr>
            <a:graphicFrameLocks noGrp="1"/>
          </p:cNvGraphicFramePr>
          <p:nvPr>
            <p:extLst>
              <p:ext uri="{D42A27DB-BD31-4B8C-83A1-F6EECF244321}">
                <p14:modId xmlns:p14="http://schemas.microsoft.com/office/powerpoint/2010/main" val="3389338045"/>
              </p:ext>
            </p:extLst>
          </p:nvPr>
        </p:nvGraphicFramePr>
        <p:xfrm>
          <a:off x="6004570" y="843641"/>
          <a:ext cx="5689602" cy="2225040"/>
        </p:xfrm>
        <a:graphic>
          <a:graphicData uri="http://schemas.openxmlformats.org/drawingml/2006/table">
            <a:tbl>
              <a:tblPr firstRow="1" bandRow="1">
                <a:tableStyleId>{5C22544A-7EE6-4342-B048-85BDC9FD1C3A}</a:tableStyleId>
              </a:tblPr>
              <a:tblGrid>
                <a:gridCol w="948267"/>
                <a:gridCol w="948267"/>
                <a:gridCol w="948267"/>
                <a:gridCol w="948267"/>
                <a:gridCol w="948267"/>
                <a:gridCol w="948267"/>
              </a:tblGrid>
              <a:tr h="370840">
                <a:tc>
                  <a:txBody>
                    <a:bodyPr/>
                    <a:lstStyle/>
                    <a:p>
                      <a:endParaRPr lang="ru-RU" dirty="0"/>
                    </a:p>
                  </a:txBody>
                  <a:tcPr/>
                </a:tc>
                <a:tc>
                  <a:txBody>
                    <a:bodyPr/>
                    <a:lstStyle/>
                    <a:p>
                      <a:r>
                        <a:rPr lang="en-US" dirty="0" smtClean="0"/>
                        <a:t>1</a:t>
                      </a:r>
                      <a:endParaRPr lang="ru-RU" dirty="0"/>
                    </a:p>
                  </a:txBody>
                  <a:tcPr/>
                </a:tc>
                <a:tc>
                  <a:txBody>
                    <a:bodyPr/>
                    <a:lstStyle/>
                    <a:p>
                      <a:r>
                        <a:rPr lang="en-US" dirty="0" smtClean="0"/>
                        <a:t>2</a:t>
                      </a:r>
                      <a:endParaRPr lang="ru-RU" dirty="0"/>
                    </a:p>
                  </a:txBody>
                  <a:tcPr/>
                </a:tc>
                <a:tc>
                  <a:txBody>
                    <a:bodyPr/>
                    <a:lstStyle/>
                    <a:p>
                      <a:r>
                        <a:rPr lang="en-US" dirty="0" smtClean="0"/>
                        <a:t>3</a:t>
                      </a:r>
                      <a:endParaRPr lang="ru-RU" dirty="0"/>
                    </a:p>
                  </a:txBody>
                  <a:tcPr/>
                </a:tc>
                <a:tc>
                  <a:txBody>
                    <a:bodyPr/>
                    <a:lstStyle/>
                    <a:p>
                      <a:r>
                        <a:rPr lang="en-US" dirty="0" smtClean="0"/>
                        <a:t>4</a:t>
                      </a:r>
                      <a:endParaRPr lang="ru-RU" dirty="0"/>
                    </a:p>
                  </a:txBody>
                  <a:tcPr/>
                </a:tc>
                <a:tc>
                  <a:txBody>
                    <a:bodyPr/>
                    <a:lstStyle/>
                    <a:p>
                      <a:r>
                        <a:rPr lang="en-US" dirty="0" smtClean="0"/>
                        <a:t>5</a:t>
                      </a:r>
                      <a:endParaRPr lang="ru-RU" dirty="0"/>
                    </a:p>
                  </a:txBody>
                  <a:tcPr/>
                </a:tc>
              </a:tr>
              <a:tr h="370840">
                <a:tc>
                  <a:txBody>
                    <a:bodyPr/>
                    <a:lstStyle/>
                    <a:p>
                      <a:r>
                        <a:rPr lang="en-US" dirty="0" smtClean="0"/>
                        <a:t>1</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c>
                  <a:txBody>
                    <a:bodyPr/>
                    <a:lstStyle/>
                    <a:p>
                      <a:r>
                        <a:rPr lang="en-US" dirty="0" smtClean="0"/>
                        <a:t>0</a:t>
                      </a:r>
                      <a:endParaRPr lang="ru-RU" dirty="0"/>
                    </a:p>
                  </a:txBody>
                  <a:tcPr/>
                </a:tc>
              </a:tr>
              <a:tr h="370840">
                <a:tc>
                  <a:txBody>
                    <a:bodyPr/>
                    <a:lstStyle/>
                    <a:p>
                      <a:r>
                        <a:rPr lang="en-US" dirty="0" smtClean="0"/>
                        <a:t>2</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r>
              <a:tr h="370840">
                <a:tc>
                  <a:txBody>
                    <a:bodyPr/>
                    <a:lstStyle/>
                    <a:p>
                      <a:r>
                        <a:rPr lang="en-US" dirty="0" smtClean="0"/>
                        <a:t>3</a:t>
                      </a:r>
                      <a:endParaRPr lang="ru-RU" dirty="0"/>
                    </a:p>
                  </a:txBody>
                  <a:tcPr/>
                </a:tc>
                <a:tc>
                  <a:txBody>
                    <a:bodyPr/>
                    <a:lstStyle/>
                    <a:p>
                      <a:r>
                        <a:rPr lang="en-US" dirty="0" smtClean="0"/>
                        <a:t>1</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c>
                  <a:txBody>
                    <a:bodyPr/>
                    <a:lstStyle/>
                    <a:p>
                      <a:r>
                        <a:rPr lang="en-US" dirty="0" smtClean="0"/>
                        <a:t>1</a:t>
                      </a:r>
                      <a:endParaRPr lang="ru-RU" dirty="0"/>
                    </a:p>
                  </a:txBody>
                  <a:tcPr/>
                </a:tc>
              </a:tr>
              <a:tr h="370840">
                <a:tc>
                  <a:txBody>
                    <a:bodyPr/>
                    <a:lstStyle/>
                    <a:p>
                      <a:r>
                        <a:rPr lang="en-US" dirty="0" smtClean="0"/>
                        <a:t>4</a:t>
                      </a:r>
                      <a:endParaRPr lang="ru-RU" dirty="0"/>
                    </a:p>
                  </a:txBody>
                  <a:tcPr/>
                </a:tc>
                <a:tc>
                  <a:txBody>
                    <a:bodyPr/>
                    <a:lstStyle/>
                    <a:p>
                      <a:r>
                        <a:rPr lang="en-US" dirty="0" smtClean="0"/>
                        <a:t>0</a:t>
                      </a:r>
                      <a:endParaRPr lang="ru-RU" dirty="0"/>
                    </a:p>
                  </a:txBody>
                  <a:tcPr/>
                </a:tc>
                <a:tc>
                  <a:txBody>
                    <a:bodyPr/>
                    <a:lstStyle/>
                    <a:p>
                      <a:r>
                        <a:rPr lang="en-US" dirty="0" smtClean="0"/>
                        <a:t>1</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r h="370840">
                <a:tc>
                  <a:txBody>
                    <a:bodyPr/>
                    <a:lstStyle/>
                    <a:p>
                      <a:r>
                        <a:rPr lang="en-US" dirty="0" smtClean="0"/>
                        <a:t>5</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c>
                  <a:txBody>
                    <a:bodyPr/>
                    <a:lstStyle/>
                    <a:p>
                      <a:r>
                        <a:rPr lang="en-US" dirty="0" smtClean="0"/>
                        <a:t>0</a:t>
                      </a:r>
                      <a:endParaRPr lang="ru-RU" dirty="0"/>
                    </a:p>
                  </a:txBody>
                  <a:tcPr/>
                </a:tc>
              </a:tr>
            </a:tbl>
          </a:graphicData>
        </a:graphic>
      </p:graphicFrame>
      <p:sp>
        <p:nvSpPr>
          <p:cNvPr id="56" name="Заголовок 27"/>
          <p:cNvSpPr txBox="1">
            <a:spLocks/>
          </p:cNvSpPr>
          <p:nvPr/>
        </p:nvSpPr>
        <p:spPr>
          <a:xfrm>
            <a:off x="6313973" y="230166"/>
            <a:ext cx="5181341" cy="964214"/>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i="1" smtClean="0"/>
              <a:t>Adjacency-matrix</a:t>
            </a:r>
            <a:endParaRPr lang="ru-RU" sz="2800" dirty="0"/>
          </a:p>
        </p:txBody>
      </p:sp>
      <p:sp>
        <p:nvSpPr>
          <p:cNvPr id="57" name="TextBox 56"/>
          <p:cNvSpPr txBox="1"/>
          <p:nvPr/>
        </p:nvSpPr>
        <p:spPr>
          <a:xfrm>
            <a:off x="6610345" y="3198973"/>
            <a:ext cx="3730172" cy="523220"/>
          </a:xfrm>
          <a:prstGeom prst="rect">
            <a:avLst/>
          </a:prstGeom>
          <a:noFill/>
        </p:spPr>
        <p:txBody>
          <a:bodyPr wrap="square" rtlCol="0">
            <a:spAutoFit/>
          </a:bodyPr>
          <a:lstStyle/>
          <a:p>
            <a:r>
              <a:rPr lang="en-US" sz="2800" i="1" dirty="0" smtClean="0"/>
              <a:t>Adjacency-list</a:t>
            </a:r>
            <a:endParaRPr lang="ru-RU" sz="2800" i="1" dirty="0"/>
          </a:p>
        </p:txBody>
      </p:sp>
      <p:graphicFrame>
        <p:nvGraphicFramePr>
          <p:cNvPr id="58" name="Таблица 57"/>
          <p:cNvGraphicFramePr>
            <a:graphicFrameLocks noGrp="1"/>
          </p:cNvGraphicFramePr>
          <p:nvPr>
            <p:extLst>
              <p:ext uri="{D42A27DB-BD31-4B8C-83A1-F6EECF244321}">
                <p14:modId xmlns:p14="http://schemas.microsoft.com/office/powerpoint/2010/main" val="3111390439"/>
              </p:ext>
            </p:extLst>
          </p:nvPr>
        </p:nvGraphicFramePr>
        <p:xfrm>
          <a:off x="6049345" y="3735083"/>
          <a:ext cx="522514" cy="1949340"/>
        </p:xfrm>
        <a:graphic>
          <a:graphicData uri="http://schemas.openxmlformats.org/drawingml/2006/table">
            <a:tbl>
              <a:tblPr firstRow="1" bandRow="1">
                <a:tableStyleId>{5C22544A-7EE6-4342-B048-85BDC9FD1C3A}</a:tableStyleId>
              </a:tblPr>
              <a:tblGrid>
                <a:gridCol w="522514"/>
              </a:tblGrid>
              <a:tr h="389868">
                <a:tc>
                  <a:txBody>
                    <a:bodyPr/>
                    <a:lstStyle/>
                    <a:p>
                      <a:r>
                        <a:rPr lang="en-US" dirty="0" smtClean="0"/>
                        <a:t>1</a:t>
                      </a:r>
                      <a:endParaRPr lang="ru-RU" dirty="0"/>
                    </a:p>
                  </a:txBody>
                  <a:tcPr/>
                </a:tc>
              </a:tr>
              <a:tr h="389868">
                <a:tc>
                  <a:txBody>
                    <a:bodyPr/>
                    <a:lstStyle/>
                    <a:p>
                      <a:r>
                        <a:rPr lang="en-US" dirty="0" smtClean="0"/>
                        <a:t>2</a:t>
                      </a:r>
                      <a:endParaRPr lang="ru-RU" dirty="0"/>
                    </a:p>
                  </a:txBody>
                  <a:tcPr/>
                </a:tc>
              </a:tr>
              <a:tr h="389868">
                <a:tc>
                  <a:txBody>
                    <a:bodyPr/>
                    <a:lstStyle/>
                    <a:p>
                      <a:r>
                        <a:rPr lang="en-US" dirty="0" smtClean="0"/>
                        <a:t>3</a:t>
                      </a:r>
                      <a:endParaRPr lang="ru-RU" dirty="0"/>
                    </a:p>
                  </a:txBody>
                  <a:tcPr/>
                </a:tc>
              </a:tr>
              <a:tr h="389868">
                <a:tc>
                  <a:txBody>
                    <a:bodyPr/>
                    <a:lstStyle/>
                    <a:p>
                      <a:r>
                        <a:rPr lang="en-US" dirty="0" smtClean="0"/>
                        <a:t>4</a:t>
                      </a:r>
                      <a:endParaRPr lang="ru-RU" dirty="0"/>
                    </a:p>
                  </a:txBody>
                  <a:tcPr/>
                </a:tc>
              </a:tr>
              <a:tr h="389868">
                <a:tc>
                  <a:txBody>
                    <a:bodyPr/>
                    <a:lstStyle/>
                    <a:p>
                      <a:r>
                        <a:rPr lang="en-US" dirty="0" smtClean="0"/>
                        <a:t>5</a:t>
                      </a:r>
                      <a:endParaRPr lang="ru-RU" dirty="0"/>
                    </a:p>
                  </a:txBody>
                  <a:tcPr/>
                </a:tc>
              </a:tr>
            </a:tbl>
          </a:graphicData>
        </a:graphic>
      </p:graphicFrame>
      <p:cxnSp>
        <p:nvCxnSpPr>
          <p:cNvPr id="59" name="Прямая со стрелкой 58"/>
          <p:cNvCxnSpPr/>
          <p:nvPr/>
        </p:nvCxnSpPr>
        <p:spPr>
          <a:xfrm>
            <a:off x="6809040" y="3947886"/>
            <a:ext cx="4481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60" name="Таблица 59"/>
          <p:cNvGraphicFramePr>
            <a:graphicFrameLocks noGrp="1"/>
          </p:cNvGraphicFramePr>
          <p:nvPr>
            <p:extLst>
              <p:ext uri="{D42A27DB-BD31-4B8C-83A1-F6EECF244321}">
                <p14:modId xmlns:p14="http://schemas.microsoft.com/office/powerpoint/2010/main" val="1865670208"/>
              </p:ext>
            </p:extLst>
          </p:nvPr>
        </p:nvGraphicFramePr>
        <p:xfrm>
          <a:off x="7402286" y="3725980"/>
          <a:ext cx="493486" cy="1275315"/>
        </p:xfrm>
        <a:graphic>
          <a:graphicData uri="http://schemas.openxmlformats.org/drawingml/2006/table">
            <a:tbl>
              <a:tblPr firstRow="1" bandRow="1">
                <a:tableStyleId>{5C22544A-7EE6-4342-B048-85BDC9FD1C3A}</a:tableStyleId>
              </a:tblPr>
              <a:tblGrid>
                <a:gridCol w="493486"/>
              </a:tblGrid>
              <a:tr h="425105">
                <a:tc>
                  <a:txBody>
                    <a:bodyPr/>
                    <a:lstStyle/>
                    <a:p>
                      <a:r>
                        <a:rPr lang="en-US" dirty="0" smtClean="0"/>
                        <a:t>4</a:t>
                      </a:r>
                      <a:endParaRPr lang="ru-RU" dirty="0"/>
                    </a:p>
                  </a:txBody>
                  <a:tcPr/>
                </a:tc>
              </a:tr>
              <a:tr h="425105">
                <a:tc>
                  <a:txBody>
                    <a:bodyPr/>
                    <a:lstStyle/>
                    <a:p>
                      <a:r>
                        <a:rPr lang="en-US" dirty="0" smtClean="0"/>
                        <a:t>5</a:t>
                      </a:r>
                      <a:endParaRPr lang="ru-RU" dirty="0"/>
                    </a:p>
                  </a:txBody>
                  <a:tcPr/>
                </a:tc>
              </a:tr>
              <a:tr h="425105">
                <a:tc>
                  <a:txBody>
                    <a:bodyPr/>
                    <a:lstStyle/>
                    <a:p>
                      <a:r>
                        <a:rPr lang="en-US" dirty="0" smtClean="0"/>
                        <a:t>5</a:t>
                      </a:r>
                      <a:endParaRPr lang="ru-RU" dirty="0"/>
                    </a:p>
                  </a:txBody>
                  <a:tcPr/>
                </a:tc>
              </a:tr>
            </a:tbl>
          </a:graphicData>
        </a:graphic>
      </p:graphicFrame>
      <p:cxnSp>
        <p:nvCxnSpPr>
          <p:cNvPr id="61" name="Прямая со стрелкой 60"/>
          <p:cNvCxnSpPr/>
          <p:nvPr/>
        </p:nvCxnSpPr>
        <p:spPr>
          <a:xfrm>
            <a:off x="6809040" y="5109029"/>
            <a:ext cx="4481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2" name="Прямоугольник 61"/>
          <p:cNvSpPr/>
          <p:nvPr/>
        </p:nvSpPr>
        <p:spPr>
          <a:xfrm>
            <a:off x="7402286" y="4965005"/>
            <a:ext cx="464457" cy="3628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2</a:t>
            </a:r>
            <a:endParaRPr lang="ru-RU" dirty="0"/>
          </a:p>
        </p:txBody>
      </p:sp>
      <p:cxnSp>
        <p:nvCxnSpPr>
          <p:cNvPr id="63" name="Прямая со стрелкой 62"/>
          <p:cNvCxnSpPr/>
          <p:nvPr/>
        </p:nvCxnSpPr>
        <p:spPr>
          <a:xfrm>
            <a:off x="6809040" y="4325257"/>
            <a:ext cx="448103" cy="14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Прямая со стрелкой 63"/>
          <p:cNvCxnSpPr/>
          <p:nvPr/>
        </p:nvCxnSpPr>
        <p:spPr>
          <a:xfrm>
            <a:off x="6809040" y="4780615"/>
            <a:ext cx="4481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5" name="Прямоугольник 64"/>
          <p:cNvSpPr/>
          <p:nvPr/>
        </p:nvSpPr>
        <p:spPr>
          <a:xfrm>
            <a:off x="8475431" y="4601029"/>
            <a:ext cx="429212" cy="3639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1</a:t>
            </a:r>
            <a:endParaRPr lang="ru-RU" dirty="0"/>
          </a:p>
        </p:txBody>
      </p:sp>
      <p:cxnSp>
        <p:nvCxnSpPr>
          <p:cNvPr id="66" name="Прямая со стрелкой 65"/>
          <p:cNvCxnSpPr/>
          <p:nvPr/>
        </p:nvCxnSpPr>
        <p:spPr>
          <a:xfrm>
            <a:off x="8084457" y="4780615"/>
            <a:ext cx="2757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8" name="Прямая со стрелкой 67"/>
          <p:cNvCxnSpPr/>
          <p:nvPr/>
        </p:nvCxnSpPr>
        <p:spPr>
          <a:xfrm>
            <a:off x="9158514" y="4780615"/>
            <a:ext cx="36285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Прямоугольник 68"/>
          <p:cNvSpPr/>
          <p:nvPr/>
        </p:nvSpPr>
        <p:spPr>
          <a:xfrm>
            <a:off x="9710057" y="4601029"/>
            <a:ext cx="464457" cy="3639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4</a:t>
            </a:r>
            <a:endParaRPr lang="ru-RU" dirty="0"/>
          </a:p>
        </p:txBody>
      </p:sp>
    </p:spTree>
    <p:extLst>
      <p:ext uri="{BB962C8B-B14F-4D97-AF65-F5344CB8AC3E}">
        <p14:creationId xmlns:p14="http://schemas.microsoft.com/office/powerpoint/2010/main" val="16984793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4"/>
          <p:cNvSpPr>
            <a:spLocks noGrp="1"/>
          </p:cNvSpPr>
          <p:nvPr>
            <p:ph type="title"/>
          </p:nvPr>
        </p:nvSpPr>
        <p:spPr>
          <a:xfrm>
            <a:off x="874220" y="138820"/>
            <a:ext cx="9404723" cy="1400530"/>
          </a:xfrm>
        </p:spPr>
        <p:txBody>
          <a:bodyPr/>
          <a:lstStyle/>
          <a:p>
            <a:r>
              <a:rPr lang="en-US" dirty="0" smtClean="0"/>
              <a:t>           Implementing Digraph</a:t>
            </a:r>
            <a:br>
              <a:rPr lang="en-US" dirty="0" smtClean="0"/>
            </a:br>
            <a:r>
              <a:rPr lang="en-US" dirty="0" smtClean="0"/>
              <a:t>					 using </a:t>
            </a:r>
            <a:r>
              <a:rPr lang="en-US" sz="4400" i="1" dirty="0"/>
              <a:t>Adjacency-list</a:t>
            </a:r>
            <a:r>
              <a:rPr lang="ru-RU" sz="4400" i="1" dirty="0"/>
              <a:t/>
            </a:r>
            <a:br>
              <a:rPr lang="ru-RU" sz="4400" i="1" dirty="0"/>
            </a:br>
            <a:endParaRPr lang="ru-RU" dirty="0"/>
          </a:p>
        </p:txBody>
      </p:sp>
      <p:sp>
        <p:nvSpPr>
          <p:cNvPr id="3" name="Объект 2"/>
          <p:cNvSpPr>
            <a:spLocks noGrp="1"/>
          </p:cNvSpPr>
          <p:nvPr>
            <p:ph idx="1"/>
          </p:nvPr>
        </p:nvSpPr>
        <p:spPr>
          <a:xfrm>
            <a:off x="1185199" y="1733266"/>
            <a:ext cx="8368233" cy="4722126"/>
          </a:xfrm>
        </p:spPr>
        <p:txBody>
          <a:bodyPr>
            <a:normAutofit fontScale="92500" lnSpcReduction="20000"/>
          </a:bodyPr>
          <a:lstStyle/>
          <a:p>
            <a:pPr marL="0" indent="0">
              <a:buNone/>
            </a:pPr>
            <a:endParaRPr lang="en-US" dirty="0" smtClean="0"/>
          </a:p>
          <a:p>
            <a:pPr marL="0" indent="0">
              <a:buNone/>
            </a:pPr>
            <a:endParaRPr lang="en-US" dirty="0"/>
          </a:p>
          <a:p>
            <a:pPr marL="0" indent="0">
              <a:buNone/>
            </a:pPr>
            <a:r>
              <a:rPr lang="en-US" dirty="0" smtClean="0"/>
              <a:t>We have Class </a:t>
            </a:r>
            <a:r>
              <a:rPr lang="en-US" dirty="0"/>
              <a:t>to store edges of the weighted graph</a:t>
            </a:r>
            <a:endParaRPr lang="en-US" dirty="0" smtClean="0"/>
          </a:p>
          <a:p>
            <a:pPr marL="0" indent="0">
              <a:buNone/>
            </a:pPr>
            <a:endParaRPr lang="en-US" dirty="0"/>
          </a:p>
          <a:p>
            <a:pPr marL="0" indent="0">
              <a:buNone/>
            </a:pPr>
            <a:r>
              <a:rPr lang="en-US" dirty="0"/>
              <a:t>import </a:t>
            </a:r>
            <a:r>
              <a:rPr lang="en-US" dirty="0" err="1"/>
              <a:t>java.util</a:t>
            </a:r>
            <a:r>
              <a:rPr lang="en-US" dirty="0"/>
              <a:t>.*;</a:t>
            </a:r>
            <a:endParaRPr lang="en-US" dirty="0" smtClean="0"/>
          </a:p>
          <a:p>
            <a:pPr marL="0" indent="0">
              <a:buNone/>
            </a:pPr>
            <a:r>
              <a:rPr lang="en-US" dirty="0" smtClean="0"/>
              <a:t>class Edge {</a:t>
            </a:r>
          </a:p>
          <a:p>
            <a:pPr marL="0" indent="0">
              <a:buNone/>
            </a:pPr>
            <a:r>
              <a:rPr lang="en-US" dirty="0" smtClean="0"/>
              <a:t>   </a:t>
            </a:r>
            <a:r>
              <a:rPr lang="en-US" dirty="0" err="1" smtClean="0"/>
              <a:t>int</a:t>
            </a:r>
            <a:r>
              <a:rPr lang="en-US" dirty="0" smtClean="0"/>
              <a:t> </a:t>
            </a:r>
            <a:r>
              <a:rPr lang="en-US" dirty="0" err="1" smtClean="0"/>
              <a:t>src</a:t>
            </a:r>
            <a:r>
              <a:rPr lang="en-US" dirty="0" smtClean="0"/>
              <a:t>, </a:t>
            </a:r>
            <a:r>
              <a:rPr lang="en-US" dirty="0" err="1" smtClean="0"/>
              <a:t>dest</a:t>
            </a:r>
            <a:r>
              <a:rPr lang="en-US" dirty="0" smtClean="0"/>
              <a:t>, weight;</a:t>
            </a:r>
          </a:p>
          <a:p>
            <a:pPr marL="0" indent="0">
              <a:buNone/>
            </a:pPr>
            <a:r>
              <a:rPr lang="en-US" dirty="0" smtClean="0"/>
              <a:t>    Edge(</a:t>
            </a:r>
            <a:r>
              <a:rPr lang="en-US" dirty="0" err="1" smtClean="0"/>
              <a:t>int</a:t>
            </a:r>
            <a:r>
              <a:rPr lang="en-US" dirty="0" smtClean="0"/>
              <a:t> </a:t>
            </a:r>
            <a:r>
              <a:rPr lang="en-US" dirty="0" err="1" smtClean="0"/>
              <a:t>src</a:t>
            </a:r>
            <a:r>
              <a:rPr lang="en-US" dirty="0" smtClean="0"/>
              <a:t>, </a:t>
            </a:r>
            <a:r>
              <a:rPr lang="en-US" dirty="0" err="1" smtClean="0"/>
              <a:t>int</a:t>
            </a:r>
            <a:r>
              <a:rPr lang="en-US" dirty="0" smtClean="0"/>
              <a:t> </a:t>
            </a:r>
            <a:r>
              <a:rPr lang="en-US" dirty="0" err="1" smtClean="0"/>
              <a:t>dest</a:t>
            </a:r>
            <a:r>
              <a:rPr lang="en-US" dirty="0" smtClean="0"/>
              <a:t>, </a:t>
            </a:r>
            <a:r>
              <a:rPr lang="en-US" dirty="0" err="1" smtClean="0"/>
              <a:t>int</a:t>
            </a:r>
            <a:r>
              <a:rPr lang="en-US" dirty="0" smtClean="0"/>
              <a:t> weight) {</a:t>
            </a:r>
          </a:p>
          <a:p>
            <a:pPr marL="0" indent="0">
              <a:buNone/>
            </a:pPr>
            <a:r>
              <a:rPr lang="en-US" dirty="0" smtClean="0"/>
              <a:t>            </a:t>
            </a:r>
            <a:r>
              <a:rPr lang="en-US" dirty="0" err="1" smtClean="0"/>
              <a:t>this.src</a:t>
            </a:r>
            <a:r>
              <a:rPr lang="en-US" dirty="0" smtClean="0"/>
              <a:t> = </a:t>
            </a:r>
            <a:r>
              <a:rPr lang="en-US" dirty="0" err="1" smtClean="0"/>
              <a:t>src</a:t>
            </a:r>
            <a:r>
              <a:rPr lang="en-US" dirty="0" smtClean="0"/>
              <a:t>;</a:t>
            </a:r>
          </a:p>
          <a:p>
            <a:pPr marL="0" indent="0">
              <a:buNone/>
            </a:pPr>
            <a:r>
              <a:rPr lang="en-US" dirty="0" smtClean="0"/>
              <a:t>            </a:t>
            </a:r>
            <a:r>
              <a:rPr lang="en-US" dirty="0" err="1" smtClean="0"/>
              <a:t>this.dest</a:t>
            </a:r>
            <a:r>
              <a:rPr lang="en-US" dirty="0" smtClean="0"/>
              <a:t> = </a:t>
            </a:r>
            <a:r>
              <a:rPr lang="en-US" dirty="0" err="1" smtClean="0"/>
              <a:t>dest</a:t>
            </a:r>
            <a:r>
              <a:rPr lang="en-US" dirty="0" smtClean="0"/>
              <a:t>;</a:t>
            </a:r>
          </a:p>
          <a:p>
            <a:pPr marL="0" indent="0">
              <a:buNone/>
            </a:pPr>
            <a:r>
              <a:rPr lang="en-US" dirty="0" smtClean="0"/>
              <a:t>            </a:t>
            </a:r>
            <a:r>
              <a:rPr lang="en-US" dirty="0" err="1" smtClean="0"/>
              <a:t>this.weight</a:t>
            </a:r>
            <a:r>
              <a:rPr lang="en-US" dirty="0" smtClean="0"/>
              <a:t> = weight;</a:t>
            </a:r>
          </a:p>
          <a:p>
            <a:pPr marL="0" indent="0">
              <a:buNone/>
            </a:pPr>
            <a:r>
              <a:rPr lang="en-US" dirty="0" smtClean="0"/>
              <a:t>        }</a:t>
            </a:r>
          </a:p>
          <a:p>
            <a:pPr marL="0" indent="0">
              <a:buNone/>
            </a:pPr>
            <a:r>
              <a:rPr lang="en-US" dirty="0" smtClean="0"/>
              <a:t>}</a:t>
            </a:r>
            <a:endParaRPr lang="ru-RU" dirty="0"/>
          </a:p>
        </p:txBody>
      </p:sp>
    </p:spTree>
    <p:extLst>
      <p:ext uri="{BB962C8B-B14F-4D97-AF65-F5344CB8AC3E}">
        <p14:creationId xmlns:p14="http://schemas.microsoft.com/office/powerpoint/2010/main" val="30393183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646111" y="452718"/>
            <a:ext cx="9229409" cy="987462"/>
          </a:xfrm>
        </p:spPr>
        <p:txBody>
          <a:bodyPr/>
          <a:lstStyle/>
          <a:p>
            <a:r>
              <a:rPr lang="en-US" sz="2800" dirty="0" smtClean="0"/>
              <a:t>Here we have our Graph class and static Node class</a:t>
            </a:r>
            <a:br>
              <a:rPr lang="en-US" sz="2800" dirty="0" smtClean="0"/>
            </a:br>
            <a:r>
              <a:rPr lang="en-US" sz="2800" dirty="0" smtClean="0"/>
              <a:t>with defining adjacency list</a:t>
            </a:r>
            <a:endParaRPr lang="ru-RU" sz="2800" dirty="0"/>
          </a:p>
        </p:txBody>
      </p:sp>
      <p:sp>
        <p:nvSpPr>
          <p:cNvPr id="3" name="Объект 2"/>
          <p:cNvSpPr>
            <a:spLocks noGrp="1"/>
          </p:cNvSpPr>
          <p:nvPr>
            <p:ph idx="1"/>
          </p:nvPr>
        </p:nvSpPr>
        <p:spPr/>
        <p:txBody>
          <a:bodyPr>
            <a:normAutofit fontScale="85000" lnSpcReduction="20000"/>
          </a:bodyPr>
          <a:lstStyle/>
          <a:p>
            <a:pPr marL="0" indent="0">
              <a:buNone/>
            </a:pPr>
            <a:r>
              <a:rPr lang="en-US" dirty="0"/>
              <a:t>class Graph {</a:t>
            </a:r>
          </a:p>
          <a:p>
            <a:pPr marL="0" indent="0">
              <a:buNone/>
            </a:pPr>
            <a:r>
              <a:rPr lang="en-US" dirty="0"/>
              <a:t>    // node of adjacency list </a:t>
            </a:r>
          </a:p>
          <a:p>
            <a:pPr marL="0" indent="0">
              <a:buNone/>
            </a:pPr>
            <a:r>
              <a:rPr lang="en-US" dirty="0"/>
              <a:t>    static class Node {</a:t>
            </a:r>
          </a:p>
          <a:p>
            <a:pPr marL="0" indent="0">
              <a:buNone/>
            </a:pPr>
            <a:r>
              <a:rPr lang="en-US" dirty="0"/>
              <a:t>        </a:t>
            </a:r>
            <a:r>
              <a:rPr lang="en-US" dirty="0" err="1"/>
              <a:t>int</a:t>
            </a:r>
            <a:r>
              <a:rPr lang="en-US" dirty="0"/>
              <a:t> value, weight;</a:t>
            </a:r>
          </a:p>
          <a:p>
            <a:pPr marL="0" indent="0">
              <a:buNone/>
            </a:pPr>
            <a:r>
              <a:rPr lang="en-US" dirty="0"/>
              <a:t>        Node(</a:t>
            </a:r>
            <a:r>
              <a:rPr lang="en-US" dirty="0" err="1"/>
              <a:t>int</a:t>
            </a:r>
            <a:r>
              <a:rPr lang="en-US" dirty="0"/>
              <a:t> value, </a:t>
            </a:r>
            <a:r>
              <a:rPr lang="en-US" dirty="0" err="1"/>
              <a:t>int</a:t>
            </a:r>
            <a:r>
              <a:rPr lang="en-US" dirty="0"/>
              <a:t> weight)  {</a:t>
            </a:r>
          </a:p>
          <a:p>
            <a:pPr marL="0" indent="0">
              <a:buNone/>
            </a:pPr>
            <a:r>
              <a:rPr lang="en-US" dirty="0"/>
              <a:t>            </a:t>
            </a:r>
            <a:r>
              <a:rPr lang="en-US" dirty="0" err="1"/>
              <a:t>this.value</a:t>
            </a:r>
            <a:r>
              <a:rPr lang="en-US" dirty="0"/>
              <a:t> = value;</a:t>
            </a:r>
          </a:p>
          <a:p>
            <a:pPr marL="0" indent="0">
              <a:buNone/>
            </a:pPr>
            <a:r>
              <a:rPr lang="en-US" dirty="0"/>
              <a:t>            </a:t>
            </a:r>
            <a:r>
              <a:rPr lang="en-US" dirty="0" err="1"/>
              <a:t>this.weight</a:t>
            </a:r>
            <a:r>
              <a:rPr lang="en-US" dirty="0"/>
              <a:t> = weight;</a:t>
            </a:r>
          </a:p>
          <a:p>
            <a:pPr marL="0" indent="0">
              <a:buNone/>
            </a:pPr>
            <a:r>
              <a:rPr lang="en-US" dirty="0"/>
              <a:t>        }</a:t>
            </a:r>
          </a:p>
          <a:p>
            <a:pPr marL="0" indent="0">
              <a:buNone/>
            </a:pPr>
            <a:r>
              <a:rPr lang="en-US" dirty="0"/>
              <a:t>    };</a:t>
            </a:r>
          </a:p>
          <a:p>
            <a:pPr marL="0" indent="0">
              <a:buNone/>
            </a:pPr>
            <a:r>
              <a:rPr lang="en-US" dirty="0"/>
              <a:t> </a:t>
            </a:r>
          </a:p>
          <a:p>
            <a:pPr marL="0" indent="0">
              <a:buNone/>
            </a:pPr>
            <a:r>
              <a:rPr lang="en-US" dirty="0"/>
              <a:t>List&lt;List&lt;Node&gt;&gt; </a:t>
            </a:r>
            <a:r>
              <a:rPr lang="en-US" dirty="0" err="1"/>
              <a:t>adj_list</a:t>
            </a:r>
            <a:r>
              <a:rPr lang="en-US" dirty="0"/>
              <a:t> = new </a:t>
            </a:r>
            <a:r>
              <a:rPr lang="en-US" dirty="0" err="1"/>
              <a:t>ArrayList</a:t>
            </a:r>
            <a:r>
              <a:rPr lang="en-US" dirty="0"/>
              <a:t>&lt;&gt;();</a:t>
            </a:r>
          </a:p>
          <a:p>
            <a:pPr marL="0" indent="0">
              <a:buNone/>
            </a:pPr>
            <a:r>
              <a:rPr lang="en-US" dirty="0"/>
              <a:t> </a:t>
            </a:r>
            <a:endParaRPr lang="ru-RU" dirty="0"/>
          </a:p>
        </p:txBody>
      </p:sp>
    </p:spTree>
    <p:extLst>
      <p:ext uri="{BB962C8B-B14F-4D97-AF65-F5344CB8AC3E}">
        <p14:creationId xmlns:p14="http://schemas.microsoft.com/office/powerpoint/2010/main" val="42013129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sz="2800" dirty="0" smtClean="0"/>
              <a:t>At this point we created constructor of class Graph</a:t>
            </a:r>
            <a:br>
              <a:rPr lang="en-US" sz="2800" dirty="0" smtClean="0"/>
            </a:br>
            <a:r>
              <a:rPr lang="en-US" sz="2800" dirty="0" smtClean="0"/>
              <a:t>and adding edges to our graph</a:t>
            </a:r>
            <a:endParaRPr lang="ru-RU" sz="2800" dirty="0"/>
          </a:p>
        </p:txBody>
      </p:sp>
      <p:sp>
        <p:nvSpPr>
          <p:cNvPr id="3" name="Объект 2"/>
          <p:cNvSpPr>
            <a:spLocks noGrp="1"/>
          </p:cNvSpPr>
          <p:nvPr>
            <p:ph idx="1"/>
          </p:nvPr>
        </p:nvSpPr>
        <p:spPr/>
        <p:txBody>
          <a:bodyPr>
            <a:normAutofit fontScale="77500" lnSpcReduction="20000"/>
          </a:bodyPr>
          <a:lstStyle/>
          <a:p>
            <a:pPr marL="0" indent="0">
              <a:buNone/>
            </a:pPr>
            <a:r>
              <a:rPr lang="en-US" dirty="0"/>
              <a:t> public Graph(List&lt;Edge&gt; edges)</a:t>
            </a:r>
          </a:p>
          <a:p>
            <a:pPr marL="0" indent="0">
              <a:buNone/>
            </a:pPr>
            <a:r>
              <a:rPr lang="en-US" dirty="0"/>
              <a:t>    {</a:t>
            </a:r>
          </a:p>
          <a:p>
            <a:pPr marL="0" indent="0">
              <a:buNone/>
            </a:pPr>
            <a:r>
              <a:rPr lang="en-US" dirty="0"/>
              <a:t>        </a:t>
            </a:r>
          </a:p>
          <a:p>
            <a:pPr marL="0" indent="0">
              <a:buNone/>
            </a:pPr>
            <a:r>
              <a:rPr lang="en-US" dirty="0"/>
              <a:t>        for (</a:t>
            </a:r>
            <a:r>
              <a:rPr lang="en-US" dirty="0" err="1"/>
              <a:t>int</a:t>
            </a:r>
            <a:r>
              <a:rPr lang="en-US" dirty="0"/>
              <a:t> </a:t>
            </a:r>
            <a:r>
              <a:rPr lang="en-US" dirty="0" err="1"/>
              <a:t>i</a:t>
            </a:r>
            <a:r>
              <a:rPr lang="en-US" dirty="0"/>
              <a:t> = 0; </a:t>
            </a:r>
            <a:r>
              <a:rPr lang="en-US" dirty="0" err="1"/>
              <a:t>i</a:t>
            </a:r>
            <a:r>
              <a:rPr lang="en-US" dirty="0"/>
              <a:t> &lt; </a:t>
            </a:r>
            <a:r>
              <a:rPr lang="en-US" dirty="0" err="1"/>
              <a:t>edges.size</a:t>
            </a:r>
            <a:r>
              <a:rPr lang="en-US" dirty="0"/>
              <a:t>(); </a:t>
            </a:r>
            <a:r>
              <a:rPr lang="en-US" dirty="0" err="1"/>
              <a:t>i</a:t>
            </a:r>
            <a:r>
              <a:rPr lang="en-US" dirty="0"/>
              <a:t>++)</a:t>
            </a:r>
          </a:p>
          <a:p>
            <a:pPr marL="0" indent="0">
              <a:buNone/>
            </a:pPr>
            <a:r>
              <a:rPr lang="en-US" dirty="0"/>
              <a:t>            </a:t>
            </a:r>
            <a:r>
              <a:rPr lang="en-US" dirty="0" err="1"/>
              <a:t>adj_list.add</a:t>
            </a:r>
            <a:r>
              <a:rPr lang="en-US" dirty="0"/>
              <a:t>(</a:t>
            </a:r>
            <a:r>
              <a:rPr lang="en-US" dirty="0" err="1"/>
              <a:t>i</a:t>
            </a:r>
            <a:r>
              <a:rPr lang="en-US" dirty="0"/>
              <a:t>, new </a:t>
            </a:r>
            <a:r>
              <a:rPr lang="en-US" dirty="0" err="1"/>
              <a:t>ArrayList</a:t>
            </a:r>
            <a:r>
              <a:rPr lang="en-US" dirty="0"/>
              <a:t>&lt;&gt;());</a:t>
            </a:r>
          </a:p>
          <a:p>
            <a:pPr marL="0" indent="0">
              <a:buNone/>
            </a:pPr>
            <a:r>
              <a:rPr lang="en-US" dirty="0"/>
              <a:t> </a:t>
            </a:r>
          </a:p>
          <a:p>
            <a:pPr marL="0" indent="0">
              <a:buNone/>
            </a:pPr>
            <a:r>
              <a:rPr lang="en-US" dirty="0"/>
              <a:t>        </a:t>
            </a:r>
          </a:p>
          <a:p>
            <a:pPr marL="0" indent="0">
              <a:buNone/>
            </a:pPr>
            <a:r>
              <a:rPr lang="en-US" dirty="0"/>
              <a:t>        for (Edge e : edges)</a:t>
            </a:r>
          </a:p>
          <a:p>
            <a:pPr marL="0" indent="0">
              <a:buNone/>
            </a:pPr>
            <a:r>
              <a:rPr lang="en-US" dirty="0"/>
              <a:t>        {</a:t>
            </a:r>
          </a:p>
          <a:p>
            <a:pPr marL="0" indent="0">
              <a:buNone/>
            </a:pPr>
            <a:endParaRPr lang="en-US" dirty="0"/>
          </a:p>
          <a:p>
            <a:pPr marL="0" indent="0">
              <a:buNone/>
            </a:pPr>
            <a:r>
              <a:rPr lang="en-US" dirty="0"/>
              <a:t>            </a:t>
            </a:r>
            <a:r>
              <a:rPr lang="en-US" dirty="0" err="1"/>
              <a:t>adj_list.get</a:t>
            </a:r>
            <a:r>
              <a:rPr lang="en-US" dirty="0"/>
              <a:t>(</a:t>
            </a:r>
            <a:r>
              <a:rPr lang="en-US" dirty="0" err="1"/>
              <a:t>e.src</a:t>
            </a:r>
            <a:r>
              <a:rPr lang="en-US" dirty="0"/>
              <a:t>).add(new Node(</a:t>
            </a:r>
            <a:r>
              <a:rPr lang="en-US" dirty="0" err="1"/>
              <a:t>e.dest</a:t>
            </a:r>
            <a:r>
              <a:rPr lang="en-US" dirty="0"/>
              <a:t>, </a:t>
            </a:r>
            <a:r>
              <a:rPr lang="en-US" dirty="0" err="1"/>
              <a:t>e.weight</a:t>
            </a:r>
            <a:r>
              <a:rPr lang="en-US" dirty="0"/>
              <a:t>));</a:t>
            </a:r>
          </a:p>
          <a:p>
            <a:pPr marL="0" indent="0">
              <a:buNone/>
            </a:pPr>
            <a:r>
              <a:rPr lang="en-US" dirty="0"/>
              <a:t>        }</a:t>
            </a:r>
          </a:p>
          <a:p>
            <a:pPr marL="0" indent="0">
              <a:buNone/>
            </a:pPr>
            <a:r>
              <a:rPr lang="en-US" dirty="0"/>
              <a:t>    }</a:t>
            </a:r>
            <a:endParaRPr lang="ru-RU" dirty="0"/>
          </a:p>
        </p:txBody>
      </p:sp>
    </p:spTree>
    <p:extLst>
      <p:ext uri="{BB962C8B-B14F-4D97-AF65-F5344CB8AC3E}">
        <p14:creationId xmlns:p14="http://schemas.microsoft.com/office/powerpoint/2010/main" val="3906590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19101" y="452718"/>
            <a:ext cx="9631734" cy="588682"/>
          </a:xfrm>
        </p:spPr>
        <p:txBody>
          <a:bodyPr/>
          <a:lstStyle/>
          <a:p>
            <a:r>
              <a:rPr lang="en-US" sz="2800" dirty="0" smtClean="0"/>
              <a:t>We have method which printing our adjacency list</a:t>
            </a:r>
            <a:endParaRPr lang="ru-RU" sz="2800" dirty="0"/>
          </a:p>
        </p:txBody>
      </p:sp>
      <p:sp>
        <p:nvSpPr>
          <p:cNvPr id="3" name="Объект 2"/>
          <p:cNvSpPr>
            <a:spLocks noGrp="1"/>
          </p:cNvSpPr>
          <p:nvPr>
            <p:ph idx="1"/>
          </p:nvPr>
        </p:nvSpPr>
        <p:spPr>
          <a:xfrm>
            <a:off x="1104294" y="1041400"/>
            <a:ext cx="8946541" cy="4805082"/>
          </a:xfrm>
        </p:spPr>
        <p:txBody>
          <a:bodyPr>
            <a:noAutofit/>
          </a:bodyPr>
          <a:lstStyle/>
          <a:p>
            <a:pPr marL="0" indent="0">
              <a:buNone/>
            </a:pPr>
            <a:r>
              <a:rPr lang="en-US" sz="1000" dirty="0"/>
              <a:t>public static void </a:t>
            </a:r>
            <a:r>
              <a:rPr lang="en-US" sz="1000" dirty="0" err="1"/>
              <a:t>printGraph</a:t>
            </a:r>
            <a:r>
              <a:rPr lang="en-US" sz="1000" dirty="0"/>
              <a:t>(Graph graph)  {</a:t>
            </a:r>
          </a:p>
          <a:p>
            <a:pPr marL="0" indent="0">
              <a:buNone/>
            </a:pPr>
            <a:r>
              <a:rPr lang="en-US" sz="1000" dirty="0"/>
              <a:t>        </a:t>
            </a:r>
            <a:r>
              <a:rPr lang="en-US" sz="1000" dirty="0" err="1"/>
              <a:t>int</a:t>
            </a:r>
            <a:r>
              <a:rPr lang="en-US" sz="1000" dirty="0"/>
              <a:t> </a:t>
            </a:r>
            <a:r>
              <a:rPr lang="en-US" sz="1000" dirty="0" err="1"/>
              <a:t>src_vertex</a:t>
            </a:r>
            <a:r>
              <a:rPr lang="en-US" sz="1000" dirty="0"/>
              <a:t> = 0;</a:t>
            </a:r>
          </a:p>
          <a:p>
            <a:pPr marL="0" indent="0">
              <a:buNone/>
            </a:pPr>
            <a:r>
              <a:rPr lang="en-US" sz="1000" dirty="0"/>
              <a:t>        </a:t>
            </a:r>
            <a:r>
              <a:rPr lang="en-US" sz="1000" dirty="0" err="1"/>
              <a:t>int</a:t>
            </a:r>
            <a:r>
              <a:rPr lang="en-US" sz="1000" dirty="0"/>
              <a:t> </a:t>
            </a:r>
            <a:r>
              <a:rPr lang="en-US" sz="1000" dirty="0" err="1"/>
              <a:t>list_size</a:t>
            </a:r>
            <a:r>
              <a:rPr lang="en-US" sz="1000" dirty="0"/>
              <a:t> = </a:t>
            </a:r>
            <a:r>
              <a:rPr lang="en-US" sz="1000" dirty="0" err="1"/>
              <a:t>graph.adj_list.size</a:t>
            </a:r>
            <a:r>
              <a:rPr lang="en-US" sz="1000" dirty="0"/>
              <a:t>();</a:t>
            </a:r>
          </a:p>
          <a:p>
            <a:pPr marL="0" indent="0">
              <a:buNone/>
            </a:pPr>
            <a:r>
              <a:rPr lang="en-US" sz="1000" dirty="0"/>
              <a:t> </a:t>
            </a:r>
          </a:p>
          <a:p>
            <a:pPr marL="0" indent="0">
              <a:buNone/>
            </a:pPr>
            <a:r>
              <a:rPr lang="en-US" sz="1000" dirty="0"/>
              <a:t>        </a:t>
            </a:r>
            <a:r>
              <a:rPr lang="en-US" sz="1000" dirty="0" err="1"/>
              <a:t>System.out.println</a:t>
            </a:r>
            <a:r>
              <a:rPr lang="en-US" sz="1000" dirty="0"/>
              <a:t>("The contents of the graph:");</a:t>
            </a:r>
          </a:p>
          <a:p>
            <a:pPr marL="0" indent="0">
              <a:buNone/>
            </a:pPr>
            <a:r>
              <a:rPr lang="en-US" sz="1000" dirty="0"/>
              <a:t>        while (</a:t>
            </a:r>
            <a:r>
              <a:rPr lang="en-US" sz="1000" dirty="0" err="1"/>
              <a:t>src_vertex</a:t>
            </a:r>
            <a:r>
              <a:rPr lang="en-US" sz="1000" dirty="0"/>
              <a:t> &lt; </a:t>
            </a:r>
            <a:r>
              <a:rPr lang="en-US" sz="1000" dirty="0" err="1"/>
              <a:t>list_size</a:t>
            </a:r>
            <a:r>
              <a:rPr lang="en-US" sz="1000" dirty="0"/>
              <a:t>) {</a:t>
            </a:r>
          </a:p>
          <a:p>
            <a:pPr marL="0" indent="0">
              <a:buNone/>
            </a:pPr>
            <a:r>
              <a:rPr lang="en-US" sz="1000" dirty="0"/>
              <a:t>            </a:t>
            </a:r>
          </a:p>
          <a:p>
            <a:pPr marL="0" indent="0">
              <a:buNone/>
            </a:pPr>
            <a:r>
              <a:rPr lang="en-US" sz="1000" dirty="0"/>
              <a:t>            for (Node edge : </a:t>
            </a:r>
            <a:r>
              <a:rPr lang="en-US" sz="1000" dirty="0" err="1"/>
              <a:t>graph.adj_list.get</a:t>
            </a:r>
            <a:r>
              <a:rPr lang="en-US" sz="1000" dirty="0"/>
              <a:t>(</a:t>
            </a:r>
            <a:r>
              <a:rPr lang="en-US" sz="1000" dirty="0" err="1"/>
              <a:t>src_vertex</a:t>
            </a:r>
            <a:r>
              <a:rPr lang="en-US" sz="1000" dirty="0"/>
              <a:t>)) {</a:t>
            </a:r>
          </a:p>
          <a:p>
            <a:pPr marL="0" indent="0">
              <a:buNone/>
            </a:pPr>
            <a:r>
              <a:rPr lang="en-US" sz="1000" dirty="0"/>
              <a:t>                </a:t>
            </a:r>
            <a:r>
              <a:rPr lang="en-US" sz="1000" dirty="0" err="1"/>
              <a:t>System.out.print</a:t>
            </a:r>
            <a:r>
              <a:rPr lang="en-US" sz="1000" dirty="0"/>
              <a:t>("Vertex:" + </a:t>
            </a:r>
            <a:r>
              <a:rPr lang="en-US" sz="1000" dirty="0" err="1"/>
              <a:t>src_vertex</a:t>
            </a:r>
            <a:r>
              <a:rPr lang="en-US" sz="1000" dirty="0"/>
              <a:t> + " ==&gt; " + </a:t>
            </a:r>
            <a:r>
              <a:rPr lang="en-US" sz="1000" dirty="0" err="1"/>
              <a:t>edge.value</a:t>
            </a:r>
            <a:r>
              <a:rPr lang="en-US" sz="1000" dirty="0"/>
              <a:t> + </a:t>
            </a:r>
          </a:p>
          <a:p>
            <a:pPr marL="0" indent="0">
              <a:buNone/>
            </a:pPr>
            <a:r>
              <a:rPr lang="en-US" sz="1000" dirty="0"/>
              <a:t>                                " (" + </a:t>
            </a:r>
            <a:r>
              <a:rPr lang="en-US" sz="1000" dirty="0" err="1"/>
              <a:t>edge.weight</a:t>
            </a:r>
            <a:r>
              <a:rPr lang="en-US" sz="1000" dirty="0"/>
              <a:t> + ")\t");</a:t>
            </a:r>
          </a:p>
          <a:p>
            <a:pPr marL="0" indent="0">
              <a:buNone/>
            </a:pPr>
            <a:r>
              <a:rPr lang="en-US" sz="1000" dirty="0"/>
              <a:t>            }</a:t>
            </a:r>
          </a:p>
          <a:p>
            <a:pPr marL="0" indent="0">
              <a:buNone/>
            </a:pPr>
            <a:r>
              <a:rPr lang="en-US" sz="1000" dirty="0"/>
              <a:t> </a:t>
            </a:r>
          </a:p>
          <a:p>
            <a:pPr marL="0" indent="0">
              <a:buNone/>
            </a:pPr>
            <a:r>
              <a:rPr lang="en-US" sz="1000" dirty="0"/>
              <a:t>            </a:t>
            </a:r>
            <a:r>
              <a:rPr lang="en-US" sz="1000" dirty="0" err="1"/>
              <a:t>System.out.println</a:t>
            </a:r>
            <a:r>
              <a:rPr lang="en-US" sz="1000" dirty="0"/>
              <a:t>();</a:t>
            </a:r>
          </a:p>
          <a:p>
            <a:pPr marL="0" indent="0">
              <a:buNone/>
            </a:pPr>
            <a:r>
              <a:rPr lang="en-US" sz="1000" dirty="0"/>
              <a:t>            </a:t>
            </a:r>
            <a:r>
              <a:rPr lang="en-US" sz="1000" dirty="0" err="1"/>
              <a:t>src_vertex</a:t>
            </a:r>
            <a:r>
              <a:rPr lang="en-US" sz="1000" dirty="0"/>
              <a:t>++;</a:t>
            </a:r>
          </a:p>
          <a:p>
            <a:pPr marL="0" indent="0">
              <a:buNone/>
            </a:pPr>
            <a:r>
              <a:rPr lang="en-US" sz="1000" dirty="0"/>
              <a:t>        }</a:t>
            </a:r>
          </a:p>
          <a:p>
            <a:pPr marL="0" indent="0">
              <a:buNone/>
            </a:pPr>
            <a:r>
              <a:rPr lang="en-US" sz="1000" dirty="0"/>
              <a:t>    }</a:t>
            </a:r>
          </a:p>
          <a:p>
            <a:pPr marL="0" indent="0">
              <a:buNone/>
            </a:pPr>
            <a:r>
              <a:rPr lang="en-US" sz="1000" dirty="0"/>
              <a:t>}</a:t>
            </a:r>
            <a:endParaRPr lang="ru-RU" sz="1000" dirty="0"/>
          </a:p>
        </p:txBody>
      </p:sp>
    </p:spTree>
    <p:extLst>
      <p:ext uri="{BB962C8B-B14F-4D97-AF65-F5344CB8AC3E}">
        <p14:creationId xmlns:p14="http://schemas.microsoft.com/office/powerpoint/2010/main" val="7190840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sz="2800" dirty="0" smtClean="0"/>
              <a:t>In our main method we defining edges of our graph and after that calling constructor to construct a graph and after that printing as adjacency list.</a:t>
            </a:r>
            <a:endParaRPr lang="ru-RU" sz="2800" dirty="0"/>
          </a:p>
        </p:txBody>
      </p:sp>
      <p:sp>
        <p:nvSpPr>
          <p:cNvPr id="3" name="Объект 2"/>
          <p:cNvSpPr>
            <a:spLocks noGrp="1"/>
          </p:cNvSpPr>
          <p:nvPr>
            <p:ph idx="1"/>
          </p:nvPr>
        </p:nvSpPr>
        <p:spPr/>
        <p:txBody>
          <a:bodyPr>
            <a:normAutofit fontScale="70000" lnSpcReduction="20000"/>
          </a:bodyPr>
          <a:lstStyle/>
          <a:p>
            <a:pPr marL="0" indent="0">
              <a:buNone/>
            </a:pPr>
            <a:r>
              <a:rPr lang="en-US" dirty="0"/>
              <a:t>public class </a:t>
            </a:r>
            <a:r>
              <a:rPr lang="en-US" dirty="0" smtClean="0"/>
              <a:t>Lists{</a:t>
            </a:r>
            <a:endParaRPr lang="en-US" dirty="0"/>
          </a:p>
          <a:p>
            <a:pPr marL="0" indent="0">
              <a:buNone/>
            </a:pPr>
            <a:r>
              <a:rPr lang="en-US" dirty="0"/>
              <a:t>    public static void main (String[] </a:t>
            </a:r>
            <a:r>
              <a:rPr lang="en-US" dirty="0" err="1"/>
              <a:t>args</a:t>
            </a:r>
            <a:r>
              <a:rPr lang="en-US" dirty="0"/>
              <a:t>) {</a:t>
            </a:r>
          </a:p>
          <a:p>
            <a:pPr marL="0" indent="0">
              <a:buNone/>
            </a:pPr>
            <a:r>
              <a:rPr lang="en-US" dirty="0"/>
              <a:t>        </a:t>
            </a:r>
          </a:p>
          <a:p>
            <a:pPr marL="0" indent="0">
              <a:buNone/>
            </a:pPr>
            <a:r>
              <a:rPr lang="en-US" dirty="0"/>
              <a:t>        List&lt;Edge&gt; edges = </a:t>
            </a:r>
            <a:r>
              <a:rPr lang="en-US" dirty="0" err="1"/>
              <a:t>Arrays.asList</a:t>
            </a:r>
            <a:r>
              <a:rPr lang="en-US" dirty="0"/>
              <a:t>(new Edge(1, 4, 2),new Edge(4, 2, 4),</a:t>
            </a:r>
          </a:p>
          <a:p>
            <a:pPr marL="0" indent="0">
              <a:buNone/>
            </a:pPr>
            <a:r>
              <a:rPr lang="en-US" dirty="0"/>
              <a:t>                   new Edge(2, 5, 4),new Edge(3, 5, 5), new Edge(3, 1, 4),</a:t>
            </a:r>
          </a:p>
          <a:p>
            <a:pPr marL="0" indent="0">
              <a:buNone/>
            </a:pPr>
            <a:r>
              <a:rPr lang="en-US" dirty="0"/>
              <a:t>                   new Edge(3, 4, 3));</a:t>
            </a:r>
          </a:p>
          <a:p>
            <a:pPr marL="0" indent="0">
              <a:buNone/>
            </a:pPr>
            <a:r>
              <a:rPr lang="en-US" dirty="0"/>
              <a:t> </a:t>
            </a:r>
          </a:p>
          <a:p>
            <a:pPr marL="0" indent="0">
              <a:buNone/>
            </a:pPr>
            <a:r>
              <a:rPr lang="en-US" dirty="0"/>
              <a:t>        </a:t>
            </a:r>
          </a:p>
          <a:p>
            <a:pPr marL="0" indent="0">
              <a:buNone/>
            </a:pPr>
            <a:r>
              <a:rPr lang="en-US" dirty="0"/>
              <a:t>        Graph </a:t>
            </a:r>
            <a:r>
              <a:rPr lang="en-US" dirty="0" err="1"/>
              <a:t>graph</a:t>
            </a:r>
            <a:r>
              <a:rPr lang="en-US" dirty="0"/>
              <a:t> = new Graph(edges);</a:t>
            </a:r>
          </a:p>
          <a:p>
            <a:pPr marL="0" indent="0">
              <a:buNone/>
            </a:pPr>
            <a:r>
              <a:rPr lang="en-US" dirty="0"/>
              <a:t> </a:t>
            </a:r>
          </a:p>
          <a:p>
            <a:pPr marL="0" indent="0">
              <a:buNone/>
            </a:pPr>
            <a:r>
              <a:rPr lang="en-US" dirty="0"/>
              <a:t>        </a:t>
            </a:r>
          </a:p>
          <a:p>
            <a:pPr marL="0" indent="0">
              <a:buNone/>
            </a:pPr>
            <a:r>
              <a:rPr lang="en-US" dirty="0"/>
              <a:t>        </a:t>
            </a:r>
            <a:r>
              <a:rPr lang="en-US" dirty="0" err="1"/>
              <a:t>Graph.printGraph</a:t>
            </a:r>
            <a:r>
              <a:rPr lang="en-US" dirty="0"/>
              <a:t>(graph);</a:t>
            </a:r>
          </a:p>
          <a:p>
            <a:pPr marL="0" indent="0">
              <a:buNone/>
            </a:pPr>
            <a:r>
              <a:rPr lang="en-US" dirty="0"/>
              <a:t>    }</a:t>
            </a:r>
          </a:p>
          <a:p>
            <a:pPr marL="0" indent="0">
              <a:buNone/>
            </a:pPr>
            <a:r>
              <a:rPr lang="en-US" dirty="0"/>
              <a:t>}</a:t>
            </a:r>
            <a:endParaRPr lang="ru-RU" dirty="0"/>
          </a:p>
        </p:txBody>
      </p:sp>
    </p:spTree>
    <p:extLst>
      <p:ext uri="{BB962C8B-B14F-4D97-AF65-F5344CB8AC3E}">
        <p14:creationId xmlns:p14="http://schemas.microsoft.com/office/powerpoint/2010/main" val="35745736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smtClean="0"/>
              <a:t>								Answer</a:t>
            </a:r>
            <a:endParaRPr lang="ru-RU" dirty="0"/>
          </a:p>
        </p:txBody>
      </p:sp>
      <p:sp>
        <p:nvSpPr>
          <p:cNvPr id="3" name="Объект 2"/>
          <p:cNvSpPr>
            <a:spLocks noGrp="1"/>
          </p:cNvSpPr>
          <p:nvPr>
            <p:ph idx="1"/>
          </p:nvPr>
        </p:nvSpPr>
        <p:spPr/>
        <p:txBody>
          <a:bodyPr>
            <a:normAutofit/>
          </a:bodyPr>
          <a:lstStyle/>
          <a:p>
            <a:pPr marL="0" indent="0">
              <a:buNone/>
            </a:pPr>
            <a:r>
              <a:rPr lang="en-US" dirty="0" smtClean="0"/>
              <a:t>The result of this edges </a:t>
            </a:r>
          </a:p>
          <a:p>
            <a:pPr marL="0" indent="0">
              <a:buNone/>
            </a:pPr>
            <a:r>
              <a:rPr lang="en-US" dirty="0"/>
              <a:t>List&lt;Edge&gt; edges = </a:t>
            </a:r>
            <a:r>
              <a:rPr lang="en-US" dirty="0" err="1"/>
              <a:t>Arrays.asList</a:t>
            </a:r>
            <a:r>
              <a:rPr lang="en-US" dirty="0"/>
              <a:t>(new Edge(0, 1, 2),new Edge(0, 2, 4), new Edge(1, 2, 4),new Edge(2, 0, 5), new Edge(2, 1, 4), new Edge(3, 2, 3), new Edge(4, 5, 1),new Edge(5, 4, 3));</a:t>
            </a:r>
            <a:endParaRPr lang="en-US" dirty="0" smtClean="0"/>
          </a:p>
          <a:p>
            <a:pPr marL="0" indent="0">
              <a:buNone/>
            </a:pPr>
            <a:endParaRPr lang="en-US" dirty="0" smtClean="0"/>
          </a:p>
          <a:p>
            <a:pPr marL="0" indent="0">
              <a:buNone/>
            </a:pPr>
            <a:r>
              <a:rPr lang="en-US" dirty="0" smtClean="0"/>
              <a:t>Should be </a:t>
            </a:r>
          </a:p>
          <a:p>
            <a:pPr marL="0" indent="0">
              <a:buNone/>
            </a:pPr>
            <a:r>
              <a:rPr lang="en-US" dirty="0"/>
              <a:t>Vertex:1 ==&gt; 4 (2) </a:t>
            </a:r>
            <a:endParaRPr lang="en-US" dirty="0" smtClean="0"/>
          </a:p>
          <a:p>
            <a:pPr marL="0" indent="0">
              <a:buNone/>
            </a:pPr>
            <a:r>
              <a:rPr lang="en-US" dirty="0" smtClean="0"/>
              <a:t>Vertex:2 </a:t>
            </a:r>
            <a:r>
              <a:rPr lang="en-US" dirty="0"/>
              <a:t>==&gt; 5 (4</a:t>
            </a:r>
            <a:r>
              <a:rPr lang="en-US" dirty="0" smtClean="0"/>
              <a:t>)</a:t>
            </a:r>
          </a:p>
          <a:p>
            <a:pPr marL="0" indent="0">
              <a:buNone/>
            </a:pPr>
            <a:r>
              <a:rPr lang="en-US" dirty="0" smtClean="0"/>
              <a:t>Vertex:3 </a:t>
            </a:r>
            <a:r>
              <a:rPr lang="en-US" dirty="0"/>
              <a:t>==&gt; 5 (5)	Vertex:3 ==&gt; 1 (4)	Vertex:3 ==&gt; 4 (3) </a:t>
            </a:r>
            <a:endParaRPr lang="en-US" dirty="0" smtClean="0"/>
          </a:p>
          <a:p>
            <a:pPr marL="0" indent="0">
              <a:buNone/>
            </a:pPr>
            <a:r>
              <a:rPr lang="en-US" dirty="0" smtClean="0"/>
              <a:t>Vertex:4 </a:t>
            </a:r>
            <a:r>
              <a:rPr lang="en-US" dirty="0"/>
              <a:t>==&gt; 2 (4)</a:t>
            </a:r>
            <a:endParaRPr lang="en-US" dirty="0" smtClean="0"/>
          </a:p>
          <a:p>
            <a:pPr marL="0" indent="0">
              <a:buNone/>
            </a:pPr>
            <a:endParaRPr lang="ru-RU" dirty="0"/>
          </a:p>
        </p:txBody>
      </p:sp>
    </p:spTree>
    <p:extLst>
      <p:ext uri="{BB962C8B-B14F-4D97-AF65-F5344CB8AC3E}">
        <p14:creationId xmlns:p14="http://schemas.microsoft.com/office/powerpoint/2010/main" val="168633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 </a:t>
            </a:r>
            <a:r>
              <a:rPr lang="en-US" dirty="0" smtClean="0"/>
              <a:t>				Usage </a:t>
            </a:r>
            <a:r>
              <a:rPr lang="en-US" dirty="0"/>
              <a:t>of directed graph</a:t>
            </a:r>
            <a:endParaRPr lang="ru-RU" dirty="0"/>
          </a:p>
        </p:txBody>
      </p:sp>
      <p:sp>
        <p:nvSpPr>
          <p:cNvPr id="3" name="Объект 2"/>
          <p:cNvSpPr>
            <a:spLocks noGrp="1"/>
          </p:cNvSpPr>
          <p:nvPr>
            <p:ph idx="1"/>
          </p:nvPr>
        </p:nvSpPr>
        <p:spPr/>
        <p:txBody>
          <a:bodyPr/>
          <a:lstStyle/>
          <a:p>
            <a:r>
              <a:rPr lang="en-US" dirty="0"/>
              <a:t>This type of graph is also typical for the modeling of certain kinds of real-world structures. The most common directed graph is probably the genealogical or phylogenetic tree, which maps the relationship between offsprings and their parents.</a:t>
            </a:r>
          </a:p>
          <a:p>
            <a:endParaRPr lang="en-US" dirty="0"/>
          </a:p>
          <a:p>
            <a:r>
              <a:rPr lang="en-US" dirty="0"/>
              <a:t>In a family tree, each vertex can at the same time be a parent and an offspring in different relationships, but not simultaneously in the same one</a:t>
            </a:r>
            <a:r>
              <a:rPr lang="en-US" dirty="0" smtClean="0"/>
              <a:t>.</a:t>
            </a:r>
          </a:p>
          <a:p>
            <a:r>
              <a:rPr lang="en-US" dirty="0"/>
              <a:t>It wouldn’t make sense for an individual to simultaneously be the parent and the child of another individual. As a consequence, the graph which represents family trees must necessarily be a directed graph.</a:t>
            </a:r>
            <a:endParaRPr lang="ru-RU" dirty="0"/>
          </a:p>
        </p:txBody>
      </p:sp>
    </p:spTree>
    <p:extLst>
      <p:ext uri="{BB962C8B-B14F-4D97-AF65-F5344CB8AC3E}">
        <p14:creationId xmlns:p14="http://schemas.microsoft.com/office/powerpoint/2010/main" val="6763987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4"/>
          <p:cNvSpPr>
            <a:spLocks noGrp="1"/>
          </p:cNvSpPr>
          <p:nvPr>
            <p:ph type="title"/>
          </p:nvPr>
        </p:nvSpPr>
        <p:spPr/>
        <p:txBody>
          <a:bodyPr/>
          <a:lstStyle/>
          <a:p>
            <a:r>
              <a:rPr lang="en-US" dirty="0" smtClean="0"/>
              <a:t>           Usage </a:t>
            </a:r>
            <a:r>
              <a:rPr lang="en-US" dirty="0"/>
              <a:t>of directed graph</a:t>
            </a:r>
            <a:endParaRPr lang="ru-RU" dirty="0"/>
          </a:p>
        </p:txBody>
      </p:sp>
      <p:sp>
        <p:nvSpPr>
          <p:cNvPr id="3" name="Объект 2"/>
          <p:cNvSpPr>
            <a:spLocks noGrp="1"/>
          </p:cNvSpPr>
          <p:nvPr>
            <p:ph idx="1"/>
          </p:nvPr>
        </p:nvSpPr>
        <p:spPr>
          <a:xfrm>
            <a:off x="1291998" y="2317705"/>
            <a:ext cx="10174288" cy="2660695"/>
          </a:xfrm>
        </p:spPr>
        <p:txBody>
          <a:bodyPr/>
          <a:lstStyle/>
          <a:p>
            <a:pPr marL="0" indent="0">
              <a:buNone/>
            </a:pPr>
            <a:r>
              <a:rPr lang="en-US" dirty="0" smtClean="0"/>
              <a:t>Graphs are used to solve many real-life problems. Graphs are used to represent networks. The networks may include paths in a city or telephone network or circuit network. Graphs are also used in social networks like LinkedIn, Facebook. For example, in Facebook, each person is represented with a vertex(or node). Each node is a structure and contains information like person id, name, gender, locale etc.</a:t>
            </a:r>
            <a:endParaRPr lang="ru-RU" dirty="0"/>
          </a:p>
        </p:txBody>
      </p:sp>
    </p:spTree>
    <p:extLst>
      <p:ext uri="{BB962C8B-B14F-4D97-AF65-F5344CB8AC3E}">
        <p14:creationId xmlns:p14="http://schemas.microsoft.com/office/powerpoint/2010/main" val="962317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4"/>
          <p:cNvSpPr>
            <a:spLocks noGrp="1"/>
          </p:cNvSpPr>
          <p:nvPr>
            <p:ph type="title"/>
          </p:nvPr>
        </p:nvSpPr>
        <p:spPr/>
        <p:txBody>
          <a:bodyPr/>
          <a:lstStyle/>
          <a:p>
            <a:r>
              <a:rPr lang="en-US" dirty="0" smtClean="0"/>
              <a:t>          Usage </a:t>
            </a:r>
            <a:r>
              <a:rPr lang="en-US" dirty="0"/>
              <a:t>of directed graph</a:t>
            </a:r>
            <a:endParaRPr lang="ru-RU" dirty="0"/>
          </a:p>
        </p:txBody>
      </p:sp>
      <p:sp>
        <p:nvSpPr>
          <p:cNvPr id="3" name="Объект 2"/>
          <p:cNvSpPr>
            <a:spLocks noGrp="1"/>
          </p:cNvSpPr>
          <p:nvPr>
            <p:ph idx="1"/>
          </p:nvPr>
        </p:nvSpPr>
        <p:spPr>
          <a:xfrm>
            <a:off x="1103312" y="1320800"/>
            <a:ext cx="10014631" cy="4927599"/>
          </a:xfrm>
        </p:spPr>
        <p:txBody>
          <a:bodyPr>
            <a:normAutofit fontScale="85000" lnSpcReduction="10000"/>
          </a:bodyPr>
          <a:lstStyle/>
          <a:p>
            <a:endParaRPr lang="en-US" dirty="0" smtClean="0"/>
          </a:p>
          <a:p>
            <a:r>
              <a:rPr lang="en-US" dirty="0" smtClean="0"/>
              <a:t>Recalling that a directed graph is a graph where the edges have an associated direction with them.</a:t>
            </a:r>
          </a:p>
          <a:p>
            <a:endParaRPr lang="en-US" dirty="0" smtClean="0"/>
          </a:p>
          <a:p>
            <a:r>
              <a:rPr lang="en-US" dirty="0" smtClean="0"/>
              <a:t>Using a directed graph you can represent asymmetrical relationships between nodes, while in undirected graph we can represent only symmetrical relationships.</a:t>
            </a:r>
          </a:p>
          <a:p>
            <a:endParaRPr lang="en-US" dirty="0" smtClean="0"/>
          </a:p>
          <a:p>
            <a:r>
              <a:rPr lang="en-US" dirty="0" smtClean="0"/>
              <a:t>Practically, using a directed graph you can represent:</a:t>
            </a:r>
          </a:p>
          <a:p>
            <a:endParaRPr lang="en-US" dirty="0" smtClean="0"/>
          </a:p>
          <a:p>
            <a:r>
              <a:rPr lang="en-US" dirty="0" smtClean="0"/>
              <a:t>Road networks (using a directed graph you can represent streets' direction);</a:t>
            </a:r>
          </a:p>
          <a:p>
            <a:r>
              <a:rPr lang="en-US" dirty="0" smtClean="0"/>
              <a:t>hyperlinks connecting web pages;</a:t>
            </a:r>
          </a:p>
          <a:p>
            <a:r>
              <a:rPr lang="en-US" dirty="0" smtClean="0"/>
              <a:t>dependencies in software modules;</a:t>
            </a:r>
          </a:p>
          <a:p>
            <a:r>
              <a:rPr lang="en-US" dirty="0" smtClean="0"/>
              <a:t>prey-predator relationships;</a:t>
            </a:r>
          </a:p>
          <a:p>
            <a:r>
              <a:rPr lang="en-US" dirty="0" smtClean="0"/>
              <a:t>deterministic finite automaton.</a:t>
            </a:r>
            <a:endParaRPr lang="ru-RU" dirty="0"/>
          </a:p>
        </p:txBody>
      </p:sp>
    </p:spTree>
    <p:extLst>
      <p:ext uri="{BB962C8B-B14F-4D97-AF65-F5344CB8AC3E}">
        <p14:creationId xmlns:p14="http://schemas.microsoft.com/office/powerpoint/2010/main" val="37304672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smtClean="0"/>
              <a:t>				Thank </a:t>
            </a:r>
            <a:r>
              <a:rPr lang="en-US" dirty="0"/>
              <a:t>you for attention</a:t>
            </a:r>
            <a:endParaRPr lang="ru-RU" dirty="0"/>
          </a:p>
        </p:txBody>
      </p:sp>
      <p:sp>
        <p:nvSpPr>
          <p:cNvPr id="3" name="Объект 2"/>
          <p:cNvSpPr>
            <a:spLocks noGrp="1"/>
          </p:cNvSpPr>
          <p:nvPr>
            <p:ph idx="1"/>
          </p:nvPr>
        </p:nvSpPr>
        <p:spPr/>
        <p:txBody>
          <a:bodyPr>
            <a:normAutofit/>
          </a:bodyPr>
          <a:lstStyle/>
          <a:p>
            <a:pPr marL="0" indent="0">
              <a:buNone/>
            </a:pPr>
            <a:r>
              <a:rPr lang="en-US" sz="4000" b="1" i="1" dirty="0" smtClean="0"/>
              <a:t>Performed </a:t>
            </a:r>
            <a:r>
              <a:rPr lang="en-US" sz="4000" b="1" i="1" dirty="0"/>
              <a:t>by </a:t>
            </a:r>
            <a:r>
              <a:rPr lang="en-US" sz="4000" b="1" i="1" dirty="0" err="1" smtClean="0"/>
              <a:t>Oktamov</a:t>
            </a:r>
            <a:r>
              <a:rPr lang="en-US" sz="4000" b="1" i="1" dirty="0" smtClean="0"/>
              <a:t> </a:t>
            </a:r>
            <a:r>
              <a:rPr lang="en-US" sz="4000" b="1" i="1" dirty="0" err="1"/>
              <a:t>Saidakmal</a:t>
            </a:r>
            <a:endParaRPr lang="ru-RU" sz="4000" b="1" i="1" dirty="0"/>
          </a:p>
        </p:txBody>
      </p:sp>
    </p:spTree>
    <p:extLst>
      <p:ext uri="{BB962C8B-B14F-4D97-AF65-F5344CB8AC3E}">
        <p14:creationId xmlns:p14="http://schemas.microsoft.com/office/powerpoint/2010/main" val="15221851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Ион">
  <a:themeElements>
    <a:clrScheme name="Ион">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Ион">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Ион">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165</TotalTime>
  <Words>1378</Words>
  <Application>Microsoft Office PowerPoint</Application>
  <PresentationFormat>Широкоэкранный</PresentationFormat>
  <Paragraphs>485</Paragraphs>
  <Slides>23</Slides>
  <Notes>0</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23</vt:i4>
      </vt:variant>
    </vt:vector>
  </HeadingPairs>
  <TitlesOfParts>
    <vt:vector size="27" baseType="lpstr">
      <vt:lpstr>Arial</vt:lpstr>
      <vt:lpstr>Century Gothic</vt:lpstr>
      <vt:lpstr>Wingdings 3</vt:lpstr>
      <vt:lpstr>Ион</vt:lpstr>
      <vt:lpstr>DIRECTED GRAPH</vt:lpstr>
      <vt:lpstr>Digraphs.  </vt:lpstr>
      <vt:lpstr> We implement the following digraph API.</vt:lpstr>
      <vt:lpstr>Implementation of directed graph using java</vt:lpstr>
      <vt:lpstr>      Adjacency Matrix</vt:lpstr>
      <vt:lpstr>      Adjacency List</vt:lpstr>
      <vt:lpstr>Adjacency-matrix</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           Implementing Digraph       using Adjacency-list </vt:lpstr>
      <vt:lpstr>Here we have our Graph class and static Node class with defining adjacency list</vt:lpstr>
      <vt:lpstr>At this point we created constructor of class Graph and adding edges to our graph</vt:lpstr>
      <vt:lpstr>We have method which printing our adjacency list</vt:lpstr>
      <vt:lpstr>In our main method we defining edges of our graph and after that calling constructor to construct a graph and after that printing as adjacency list.</vt:lpstr>
      <vt:lpstr>        Answer</vt:lpstr>
      <vt:lpstr>     Usage of directed graph</vt:lpstr>
      <vt:lpstr>           Usage of directed graph</vt:lpstr>
      <vt:lpstr>          Usage of directed graph</vt:lpstr>
      <vt:lpstr>    Thank you for attention</vt:lpstr>
    </vt:vector>
  </TitlesOfParts>
  <Company>SPecialiST RePack</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DIRECTED GRAPH</dc:title>
  <dc:creator>Учетная запись Майкрософт</dc:creator>
  <cp:lastModifiedBy>Учетная запись Майкрософт</cp:lastModifiedBy>
  <cp:revision>17</cp:revision>
  <dcterms:created xsi:type="dcterms:W3CDTF">2021-03-20T08:40:55Z</dcterms:created>
  <dcterms:modified xsi:type="dcterms:W3CDTF">2021-03-21T09:08:12Z</dcterms:modified>
</cp:coreProperties>
</file>